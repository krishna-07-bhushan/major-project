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66" r:id="rId4"/>
    <p:sldId id="260" r:id="rId5"/>
    <p:sldId id="261" r:id="rId6"/>
    <p:sldId id="262" r:id="rId7"/>
    <p:sldId id="263" r:id="rId8"/>
    <p:sldId id="265" r:id="rId9"/>
    <p:sldId id="267" r:id="rId10"/>
    <p:sldId id="264" r:id="rId11"/>
    <p:sldId id="273" r:id="rId12"/>
    <p:sldId id="268" r:id="rId13"/>
    <p:sldId id="270" r:id="rId14"/>
    <p:sldId id="272" r:id="rId15"/>
    <p:sldId id="259" r:id="rId16"/>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p:normalViewPr>
  <p:slideViewPr>
    <p:cSldViewPr>
      <p:cViewPr>
        <p:scale>
          <a:sx n="75" d="100"/>
          <a:sy n="75" d="100"/>
        </p:scale>
        <p:origin x="436"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DB2AB51A-B1EE-48AD-B976-238D6ADBADA7}" type="datetimeFigureOut">
              <a:rPr lang="en-IN" smtClean="0"/>
              <a:t>03-09-2025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48C891D3-7634-468C-8988-7EA4D74EE3FE}" type="slidenum">
              <a:rPr lang="en-IN" smtClean="0"/>
              <a:t>‹#›</a:t>
            </a:fld>
            <a:endParaRPr lang="en-IN"/>
          </a:p>
        </p:txBody>
      </p:sp>
    </p:spTree>
    <p:extLst>
      <p:ext uri="{BB962C8B-B14F-4D97-AF65-F5344CB8AC3E}">
        <p14:creationId xmlns:p14="http://schemas.microsoft.com/office/powerpoint/2010/main" val="147297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Trebuchet MS"/>
                <a:cs typeface="Trebuchet MS"/>
              </a:defRPr>
            </a:lvl1pPr>
          </a:lstStyle>
          <a:p>
            <a:pPr marL="12700">
              <a:lnSpc>
                <a:spcPts val="2135"/>
              </a:lnSpc>
            </a:pPr>
            <a:r>
              <a:rPr spc="65" dirty="0"/>
              <a:t>D</a:t>
            </a:r>
            <a:r>
              <a:rPr spc="95" dirty="0"/>
              <a:t>e</a:t>
            </a:r>
            <a:r>
              <a:rPr spc="-165" dirty="0"/>
              <a:t>pt.</a:t>
            </a:r>
            <a:r>
              <a:rPr spc="-265" dirty="0"/>
              <a:t> </a:t>
            </a:r>
            <a:r>
              <a:rPr spc="5" dirty="0"/>
              <a:t>o</a:t>
            </a:r>
            <a:r>
              <a:rPr spc="-215" dirty="0"/>
              <a:t>f</a:t>
            </a:r>
            <a:r>
              <a:rPr spc="-20" dirty="0"/>
              <a:t> </a:t>
            </a:r>
            <a:r>
              <a:rPr spc="-45" dirty="0"/>
              <a:t>CSE,</a:t>
            </a:r>
            <a:r>
              <a:rPr spc="-190" dirty="0"/>
              <a:t> </a:t>
            </a:r>
            <a:r>
              <a:rPr spc="-5" dirty="0"/>
              <a:t>S</a:t>
            </a:r>
            <a:r>
              <a:rPr spc="30" dirty="0"/>
              <a:t>V</a:t>
            </a:r>
            <a:r>
              <a:rPr spc="-5" dirty="0"/>
              <a:t>IT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F6183600-7904-43D6-A3C8-146C5F705923}" type="datetime1">
              <a:rPr lang="en-US" smtClean="0"/>
              <a:t>9/3/2025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Trebuchet MS"/>
                <a:cs typeface="Trebuchet MS"/>
              </a:defRPr>
            </a:lvl1pPr>
          </a:lstStyle>
          <a:p>
            <a:pPr marL="12700">
              <a:lnSpc>
                <a:spcPts val="2135"/>
              </a:lnSpc>
            </a:pPr>
            <a:r>
              <a:rPr spc="65" dirty="0"/>
              <a:t>D</a:t>
            </a:r>
            <a:r>
              <a:rPr spc="95" dirty="0"/>
              <a:t>e</a:t>
            </a:r>
            <a:r>
              <a:rPr spc="-165" dirty="0"/>
              <a:t>pt.</a:t>
            </a:r>
            <a:r>
              <a:rPr spc="-265" dirty="0"/>
              <a:t> </a:t>
            </a:r>
            <a:r>
              <a:rPr spc="5" dirty="0"/>
              <a:t>o</a:t>
            </a:r>
            <a:r>
              <a:rPr spc="-215" dirty="0"/>
              <a:t>f</a:t>
            </a:r>
            <a:r>
              <a:rPr spc="-20" dirty="0"/>
              <a:t> </a:t>
            </a:r>
            <a:r>
              <a:rPr spc="-45" dirty="0"/>
              <a:t>CSE,</a:t>
            </a:r>
            <a:r>
              <a:rPr spc="-190" dirty="0"/>
              <a:t> </a:t>
            </a:r>
            <a:r>
              <a:rPr spc="-5" dirty="0"/>
              <a:t>S</a:t>
            </a:r>
            <a:r>
              <a:rPr spc="30" dirty="0"/>
              <a:t>V</a:t>
            </a:r>
            <a:r>
              <a:rPr spc="-5" dirty="0"/>
              <a:t>IT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4EDE7A4E-C72D-4BFA-8635-EA1C45028C00}" type="datetime1">
              <a:rPr lang="en-US" smtClean="0"/>
              <a:t>9/3/2025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tx1"/>
                </a:solidFill>
                <a:latin typeface="Trebuchet MS"/>
                <a:cs typeface="Trebuchet MS"/>
              </a:defRPr>
            </a:lvl1pPr>
          </a:lstStyle>
          <a:p>
            <a:pPr marL="12700">
              <a:lnSpc>
                <a:spcPts val="2135"/>
              </a:lnSpc>
            </a:pPr>
            <a:r>
              <a:rPr spc="65" dirty="0"/>
              <a:t>D</a:t>
            </a:r>
            <a:r>
              <a:rPr spc="95" dirty="0"/>
              <a:t>e</a:t>
            </a:r>
            <a:r>
              <a:rPr spc="-165" dirty="0"/>
              <a:t>pt.</a:t>
            </a:r>
            <a:r>
              <a:rPr spc="-265" dirty="0"/>
              <a:t> </a:t>
            </a:r>
            <a:r>
              <a:rPr spc="5" dirty="0"/>
              <a:t>o</a:t>
            </a:r>
            <a:r>
              <a:rPr spc="-215" dirty="0"/>
              <a:t>f</a:t>
            </a:r>
            <a:r>
              <a:rPr spc="-20" dirty="0"/>
              <a:t> </a:t>
            </a:r>
            <a:r>
              <a:rPr spc="-45" dirty="0"/>
              <a:t>CSE,</a:t>
            </a:r>
            <a:r>
              <a:rPr spc="-190" dirty="0"/>
              <a:t> </a:t>
            </a:r>
            <a:r>
              <a:rPr spc="-5" dirty="0"/>
              <a:t>S</a:t>
            </a:r>
            <a:r>
              <a:rPr spc="30" dirty="0"/>
              <a:t>V</a:t>
            </a:r>
            <a:r>
              <a:rPr spc="-5" dirty="0"/>
              <a:t>IT</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7176AA68-B084-4917-B71B-456A85DEB6C8}" type="datetime1">
              <a:rPr lang="en-US" smtClean="0"/>
              <a:t>9/3/2025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tx1"/>
                </a:solidFill>
                <a:latin typeface="Trebuchet MS"/>
                <a:cs typeface="Trebuchet MS"/>
              </a:defRPr>
            </a:lvl1pPr>
          </a:lstStyle>
          <a:p>
            <a:pPr marL="12700">
              <a:lnSpc>
                <a:spcPts val="2135"/>
              </a:lnSpc>
            </a:pPr>
            <a:r>
              <a:rPr spc="65" dirty="0"/>
              <a:t>D</a:t>
            </a:r>
            <a:r>
              <a:rPr spc="95" dirty="0"/>
              <a:t>e</a:t>
            </a:r>
            <a:r>
              <a:rPr spc="-165" dirty="0"/>
              <a:t>pt.</a:t>
            </a:r>
            <a:r>
              <a:rPr spc="-265" dirty="0"/>
              <a:t> </a:t>
            </a:r>
            <a:r>
              <a:rPr spc="5" dirty="0"/>
              <a:t>o</a:t>
            </a:r>
            <a:r>
              <a:rPr spc="-215" dirty="0"/>
              <a:t>f</a:t>
            </a:r>
            <a:r>
              <a:rPr spc="-20" dirty="0"/>
              <a:t> </a:t>
            </a:r>
            <a:r>
              <a:rPr spc="-45" dirty="0"/>
              <a:t>CSE,</a:t>
            </a:r>
            <a:r>
              <a:rPr spc="-190" dirty="0"/>
              <a:t> </a:t>
            </a:r>
            <a:r>
              <a:rPr spc="-5" dirty="0"/>
              <a:t>S</a:t>
            </a:r>
            <a:r>
              <a:rPr spc="30" dirty="0"/>
              <a:t>V</a:t>
            </a:r>
            <a:r>
              <a:rPr spc="-5" dirty="0"/>
              <a:t>IT</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26C39BA7-3FDF-4DC6-B2C5-2B1C6C4B4F5E}" type="datetime1">
              <a:rPr lang="en-US" smtClean="0"/>
              <a:t>9/3/2025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tx1"/>
                </a:solidFill>
                <a:latin typeface="Trebuchet MS"/>
                <a:cs typeface="Trebuchet MS"/>
              </a:defRPr>
            </a:lvl1pPr>
          </a:lstStyle>
          <a:p>
            <a:pPr marL="12700">
              <a:lnSpc>
                <a:spcPts val="2135"/>
              </a:lnSpc>
            </a:pPr>
            <a:r>
              <a:rPr spc="65" dirty="0"/>
              <a:t>D</a:t>
            </a:r>
            <a:r>
              <a:rPr spc="95" dirty="0"/>
              <a:t>e</a:t>
            </a:r>
            <a:r>
              <a:rPr spc="-165" dirty="0"/>
              <a:t>pt.</a:t>
            </a:r>
            <a:r>
              <a:rPr spc="-265" dirty="0"/>
              <a:t> </a:t>
            </a:r>
            <a:r>
              <a:rPr spc="5" dirty="0"/>
              <a:t>o</a:t>
            </a:r>
            <a:r>
              <a:rPr spc="-215" dirty="0"/>
              <a:t>f</a:t>
            </a:r>
            <a:r>
              <a:rPr spc="-20" dirty="0"/>
              <a:t> </a:t>
            </a:r>
            <a:r>
              <a:rPr spc="-45" dirty="0"/>
              <a:t>CSE,</a:t>
            </a:r>
            <a:r>
              <a:rPr spc="-190" dirty="0"/>
              <a:t> </a:t>
            </a:r>
            <a:r>
              <a:rPr spc="-5" dirty="0"/>
              <a:t>S</a:t>
            </a:r>
            <a:r>
              <a:rPr spc="30" dirty="0"/>
              <a:t>V</a:t>
            </a:r>
            <a:r>
              <a:rPr spc="-5" dirty="0"/>
              <a:t>IT</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D1BAD445-9154-484B-9F4D-653F273FBCE2}" type="datetime1">
              <a:rPr lang="en-US" smtClean="0"/>
              <a:t>9/3/2025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8000"/>
          </a:xfrm>
          <a:prstGeom prst="rect">
            <a:avLst/>
          </a:prstGeom>
        </p:spPr>
      </p:pic>
      <p:pic>
        <p:nvPicPr>
          <p:cNvPr id="17" name="bg object 17"/>
          <p:cNvPicPr/>
          <p:nvPr/>
        </p:nvPicPr>
        <p:blipFill>
          <a:blip r:embed="rId8" cstate="print"/>
          <a:stretch>
            <a:fillRect/>
          </a:stretch>
        </p:blipFill>
        <p:spPr>
          <a:xfrm>
            <a:off x="0" y="2019300"/>
            <a:ext cx="12192000" cy="4105275"/>
          </a:xfrm>
          <a:prstGeom prst="rect">
            <a:avLst/>
          </a:prstGeom>
        </p:spPr>
      </p:pic>
      <p:pic>
        <p:nvPicPr>
          <p:cNvPr id="18" name="bg object 18"/>
          <p:cNvPicPr/>
          <p:nvPr/>
        </p:nvPicPr>
        <p:blipFill>
          <a:blip r:embed="rId9" cstate="print"/>
          <a:stretch>
            <a:fillRect/>
          </a:stretch>
        </p:blipFill>
        <p:spPr>
          <a:xfrm>
            <a:off x="0" y="6124577"/>
            <a:ext cx="12191999" cy="731520"/>
          </a:xfrm>
          <a:prstGeom prst="rect">
            <a:avLst/>
          </a:prstGeom>
        </p:spPr>
      </p:pic>
      <p:sp>
        <p:nvSpPr>
          <p:cNvPr id="2" name="Holder 2"/>
          <p:cNvSpPr>
            <a:spLocks noGrp="1"/>
          </p:cNvSpPr>
          <p:nvPr>
            <p:ph type="title"/>
          </p:nvPr>
        </p:nvSpPr>
        <p:spPr>
          <a:xfrm>
            <a:off x="1070927" y="563668"/>
            <a:ext cx="10061575" cy="1211580"/>
          </a:xfrm>
          <a:prstGeom prst="rect">
            <a:avLst/>
          </a:prstGeom>
        </p:spPr>
        <p:txBody>
          <a:bodyPr wrap="square" lIns="0" tIns="0" rIns="0" bIns="0">
            <a:spAutoFit/>
          </a:bodyPr>
          <a:lstStyle>
            <a:lvl1pPr>
              <a:defRPr sz="395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78739" y="6587822"/>
            <a:ext cx="1756410" cy="291465"/>
          </a:xfrm>
          <a:prstGeom prst="rect">
            <a:avLst/>
          </a:prstGeom>
        </p:spPr>
        <p:txBody>
          <a:bodyPr wrap="square" lIns="0" tIns="0" rIns="0" bIns="0">
            <a:spAutoFit/>
          </a:bodyPr>
          <a:lstStyle>
            <a:lvl1pPr>
              <a:defRPr sz="1800" b="0" i="0">
                <a:solidFill>
                  <a:schemeClr val="tx1"/>
                </a:solidFill>
                <a:latin typeface="Trebuchet MS"/>
                <a:cs typeface="Trebuchet MS"/>
              </a:defRPr>
            </a:lvl1pPr>
          </a:lstStyle>
          <a:p>
            <a:pPr marL="12700">
              <a:lnSpc>
                <a:spcPts val="2135"/>
              </a:lnSpc>
            </a:pPr>
            <a:r>
              <a:rPr spc="65" dirty="0"/>
              <a:t>D</a:t>
            </a:r>
            <a:r>
              <a:rPr spc="95" dirty="0"/>
              <a:t>e</a:t>
            </a:r>
            <a:r>
              <a:rPr spc="-165" dirty="0"/>
              <a:t>pt.</a:t>
            </a:r>
            <a:r>
              <a:rPr spc="-265" dirty="0"/>
              <a:t> </a:t>
            </a:r>
            <a:r>
              <a:rPr spc="5" dirty="0"/>
              <a:t>o</a:t>
            </a:r>
            <a:r>
              <a:rPr spc="-215" dirty="0"/>
              <a:t>f</a:t>
            </a:r>
            <a:r>
              <a:rPr spc="-20" dirty="0"/>
              <a:t> </a:t>
            </a:r>
            <a:r>
              <a:rPr spc="-45" dirty="0"/>
              <a:t>CSE,</a:t>
            </a:r>
            <a:r>
              <a:rPr spc="-190" dirty="0"/>
              <a:t> </a:t>
            </a:r>
            <a:r>
              <a:rPr spc="-5" dirty="0"/>
              <a:t>S</a:t>
            </a:r>
            <a:r>
              <a:rPr spc="30" dirty="0"/>
              <a:t>V</a:t>
            </a:r>
            <a:r>
              <a:rPr spc="-5" dirty="0"/>
              <a:t>IT</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021197B6-5962-445D-A96B-1D002238792E}" type="datetime1">
              <a:rPr lang="en-US" smtClean="0"/>
              <a:t>9/3/2025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763" y="6122987"/>
            <a:ext cx="186055" cy="12700"/>
          </a:xfrm>
          <a:custGeom>
            <a:avLst/>
            <a:gdLst/>
            <a:ahLst/>
            <a:cxnLst/>
            <a:rect l="l" t="t" r="r" b="b"/>
            <a:pathLst>
              <a:path w="186055" h="12700">
                <a:moveTo>
                  <a:pt x="0" y="12700"/>
                </a:moveTo>
                <a:lnTo>
                  <a:pt x="185736" y="12700"/>
                </a:lnTo>
                <a:lnTo>
                  <a:pt x="185736" y="0"/>
                </a:lnTo>
                <a:lnTo>
                  <a:pt x="0" y="0"/>
                </a:lnTo>
                <a:lnTo>
                  <a:pt x="0" y="12700"/>
                </a:lnTo>
                <a:close/>
              </a:path>
            </a:pathLst>
          </a:custGeom>
          <a:solidFill>
            <a:srgbClr val="000000"/>
          </a:solidFill>
        </p:spPr>
        <p:txBody>
          <a:bodyPr wrap="square" lIns="0" tIns="0" rIns="0" bIns="0" rtlCol="0"/>
          <a:lstStyle/>
          <a:p>
            <a:endParaRPr/>
          </a:p>
        </p:txBody>
      </p:sp>
      <p:grpSp>
        <p:nvGrpSpPr>
          <p:cNvPr id="3" name="object 3"/>
          <p:cNvGrpSpPr/>
          <p:nvPr/>
        </p:nvGrpSpPr>
        <p:grpSpPr>
          <a:xfrm>
            <a:off x="180975" y="180911"/>
            <a:ext cx="12011025" cy="6491351"/>
            <a:chOff x="180975" y="180911"/>
            <a:chExt cx="12011025" cy="6491351"/>
          </a:xfrm>
        </p:grpSpPr>
        <p:sp>
          <p:nvSpPr>
            <p:cNvPr id="4" name="object 4"/>
            <p:cNvSpPr/>
            <p:nvPr/>
          </p:nvSpPr>
          <p:spPr>
            <a:xfrm>
              <a:off x="11915775" y="6122987"/>
              <a:ext cx="276225" cy="12700"/>
            </a:xfrm>
            <a:custGeom>
              <a:avLst/>
              <a:gdLst/>
              <a:ahLst/>
              <a:cxnLst/>
              <a:rect l="l" t="t" r="r" b="b"/>
              <a:pathLst>
                <a:path w="276225" h="12700">
                  <a:moveTo>
                    <a:pt x="0" y="12700"/>
                  </a:moveTo>
                  <a:lnTo>
                    <a:pt x="276225" y="12700"/>
                  </a:lnTo>
                  <a:lnTo>
                    <a:pt x="276225" y="0"/>
                  </a:lnTo>
                  <a:lnTo>
                    <a:pt x="0" y="0"/>
                  </a:lnTo>
                  <a:lnTo>
                    <a:pt x="0" y="12700"/>
                  </a:lnTo>
                  <a:close/>
                </a:path>
              </a:pathLst>
            </a:custGeom>
            <a:solidFill>
              <a:srgbClr val="000000"/>
            </a:solidFill>
          </p:spPr>
          <p:txBody>
            <a:bodyPr wrap="square" lIns="0" tIns="0" rIns="0" bIns="0" rtlCol="0"/>
            <a:lstStyle/>
            <a:p>
              <a:endParaRPr/>
            </a:p>
          </p:txBody>
        </p:sp>
        <p:pic>
          <p:nvPicPr>
            <p:cNvPr id="5" name="object 5"/>
            <p:cNvPicPr/>
            <p:nvPr/>
          </p:nvPicPr>
          <p:blipFill>
            <a:blip r:embed="rId2" cstate="print"/>
            <a:stretch>
              <a:fillRect/>
            </a:stretch>
          </p:blipFill>
          <p:spPr>
            <a:xfrm>
              <a:off x="180975" y="180911"/>
              <a:ext cx="11739626" cy="6491351"/>
            </a:xfrm>
            <a:prstGeom prst="rect">
              <a:avLst/>
            </a:prstGeom>
          </p:spPr>
        </p:pic>
        <p:sp>
          <p:nvSpPr>
            <p:cNvPr id="6" name="object 6"/>
            <p:cNvSpPr/>
            <p:nvPr/>
          </p:nvSpPr>
          <p:spPr>
            <a:xfrm>
              <a:off x="190500" y="190499"/>
              <a:ext cx="11725275" cy="6477000"/>
            </a:xfrm>
            <a:custGeom>
              <a:avLst/>
              <a:gdLst/>
              <a:ahLst/>
              <a:cxnLst/>
              <a:rect l="l" t="t" r="r" b="b"/>
              <a:pathLst>
                <a:path w="11725275" h="6477000">
                  <a:moveTo>
                    <a:pt x="0" y="6477000"/>
                  </a:moveTo>
                  <a:lnTo>
                    <a:pt x="11725275" y="6477000"/>
                  </a:lnTo>
                  <a:lnTo>
                    <a:pt x="11725275" y="0"/>
                  </a:lnTo>
                  <a:lnTo>
                    <a:pt x="0" y="0"/>
                  </a:lnTo>
                  <a:lnTo>
                    <a:pt x="0" y="6477000"/>
                  </a:lnTo>
                  <a:close/>
                </a:path>
              </a:pathLst>
            </a:custGeom>
            <a:ln w="15875">
              <a:solidFill>
                <a:srgbClr val="001F5F"/>
              </a:solidFill>
            </a:ln>
          </p:spPr>
          <p:txBody>
            <a:bodyPr wrap="square" lIns="0" tIns="0" rIns="0" bIns="0" rtlCol="0"/>
            <a:lstStyle/>
            <a:p>
              <a:endParaRPr/>
            </a:p>
          </p:txBody>
        </p:sp>
      </p:grpSp>
      <p:sp>
        <p:nvSpPr>
          <p:cNvPr id="8" name="object 8"/>
          <p:cNvSpPr txBox="1">
            <a:spLocks noGrp="1"/>
          </p:cNvSpPr>
          <p:nvPr>
            <p:ph type="title"/>
          </p:nvPr>
        </p:nvSpPr>
        <p:spPr>
          <a:xfrm>
            <a:off x="1077413" y="350521"/>
            <a:ext cx="10061575" cy="1204176"/>
          </a:xfrm>
          <a:prstGeom prst="rect">
            <a:avLst/>
          </a:prstGeom>
        </p:spPr>
        <p:txBody>
          <a:bodyPr vert="horz" wrap="square" lIns="0" tIns="237490" rIns="0" bIns="0" rtlCol="0">
            <a:spAutoFit/>
          </a:bodyPr>
          <a:lstStyle/>
          <a:p>
            <a:pPr marL="12700" algn="ctr">
              <a:lnSpc>
                <a:spcPct val="100000"/>
              </a:lnSpc>
              <a:spcBef>
                <a:spcPts val="1870"/>
              </a:spcBef>
            </a:pPr>
            <a:r>
              <a:rPr sz="2800" spc="-5" dirty="0">
                <a:solidFill>
                  <a:srgbClr val="C00000"/>
                </a:solidFill>
              </a:rPr>
              <a:t>SAI </a:t>
            </a:r>
            <a:r>
              <a:rPr sz="2800" spc="-65" dirty="0">
                <a:solidFill>
                  <a:srgbClr val="C00000"/>
                </a:solidFill>
              </a:rPr>
              <a:t>VIDYA</a:t>
            </a:r>
            <a:r>
              <a:rPr sz="2800" spc="-55" dirty="0">
                <a:solidFill>
                  <a:srgbClr val="C00000"/>
                </a:solidFill>
              </a:rPr>
              <a:t> </a:t>
            </a:r>
            <a:r>
              <a:rPr sz="2800" dirty="0">
                <a:solidFill>
                  <a:srgbClr val="C00000"/>
                </a:solidFill>
              </a:rPr>
              <a:t>INSTITUTE</a:t>
            </a:r>
            <a:r>
              <a:rPr sz="2800" spc="160" dirty="0">
                <a:solidFill>
                  <a:srgbClr val="C00000"/>
                </a:solidFill>
              </a:rPr>
              <a:t> </a:t>
            </a:r>
            <a:r>
              <a:rPr sz="2800" spc="10" dirty="0">
                <a:solidFill>
                  <a:srgbClr val="C00000"/>
                </a:solidFill>
              </a:rPr>
              <a:t>OF</a:t>
            </a:r>
            <a:r>
              <a:rPr sz="2800" spc="-130" dirty="0">
                <a:solidFill>
                  <a:srgbClr val="C00000"/>
                </a:solidFill>
              </a:rPr>
              <a:t> </a:t>
            </a:r>
            <a:r>
              <a:rPr sz="2800" dirty="0">
                <a:solidFill>
                  <a:srgbClr val="C00000"/>
                </a:solidFill>
              </a:rPr>
              <a:t>TECHNOLOGY</a:t>
            </a:r>
          </a:p>
          <a:p>
            <a:pPr marR="93345" algn="ctr">
              <a:lnSpc>
                <a:spcPct val="100000"/>
              </a:lnSpc>
              <a:spcBef>
                <a:spcPts val="785"/>
              </a:spcBef>
            </a:pPr>
            <a:r>
              <a:rPr sz="2800" spc="45" dirty="0">
                <a:solidFill>
                  <a:srgbClr val="C00000"/>
                </a:solidFill>
              </a:rPr>
              <a:t>R</a:t>
            </a:r>
            <a:r>
              <a:rPr sz="2800" spc="-30" dirty="0">
                <a:solidFill>
                  <a:srgbClr val="C00000"/>
                </a:solidFill>
              </a:rPr>
              <a:t>A</a:t>
            </a:r>
            <a:r>
              <a:rPr sz="2800" spc="45" dirty="0">
                <a:solidFill>
                  <a:srgbClr val="C00000"/>
                </a:solidFill>
              </a:rPr>
              <a:t>J</a:t>
            </a:r>
            <a:r>
              <a:rPr sz="2800" spc="-30" dirty="0">
                <a:solidFill>
                  <a:srgbClr val="C00000"/>
                </a:solidFill>
              </a:rPr>
              <a:t>A</a:t>
            </a:r>
            <a:r>
              <a:rPr sz="2800" spc="45" dirty="0">
                <a:solidFill>
                  <a:srgbClr val="C00000"/>
                </a:solidFill>
              </a:rPr>
              <a:t>NU</a:t>
            </a:r>
            <a:r>
              <a:rPr sz="2800" spc="20" dirty="0">
                <a:solidFill>
                  <a:srgbClr val="C00000"/>
                </a:solidFill>
              </a:rPr>
              <a:t>K</a:t>
            </a:r>
            <a:r>
              <a:rPr sz="2800" spc="45" dirty="0">
                <a:solidFill>
                  <a:srgbClr val="C00000"/>
                </a:solidFill>
              </a:rPr>
              <a:t>U</a:t>
            </a:r>
            <a:r>
              <a:rPr sz="2800" spc="-30" dirty="0">
                <a:solidFill>
                  <a:srgbClr val="C00000"/>
                </a:solidFill>
              </a:rPr>
              <a:t>N</a:t>
            </a:r>
            <a:r>
              <a:rPr sz="2800" spc="-10" dirty="0">
                <a:solidFill>
                  <a:srgbClr val="C00000"/>
                </a:solidFill>
              </a:rPr>
              <a:t>T</a:t>
            </a:r>
            <a:r>
              <a:rPr sz="2800" spc="-20" dirty="0">
                <a:solidFill>
                  <a:srgbClr val="C00000"/>
                </a:solidFill>
              </a:rPr>
              <a:t>E</a:t>
            </a:r>
            <a:r>
              <a:rPr sz="2800" spc="5" dirty="0">
                <a:solidFill>
                  <a:srgbClr val="C00000"/>
                </a:solidFill>
              </a:rPr>
              <a:t>,</a:t>
            </a:r>
            <a:r>
              <a:rPr sz="2800" spc="-110" dirty="0">
                <a:solidFill>
                  <a:srgbClr val="C00000"/>
                </a:solidFill>
              </a:rPr>
              <a:t> </a:t>
            </a:r>
            <a:r>
              <a:rPr sz="2800" spc="65" dirty="0">
                <a:solidFill>
                  <a:srgbClr val="C00000"/>
                </a:solidFill>
              </a:rPr>
              <a:t>B</a:t>
            </a:r>
            <a:r>
              <a:rPr sz="2800" spc="-10" dirty="0">
                <a:solidFill>
                  <a:srgbClr val="C00000"/>
                </a:solidFill>
              </a:rPr>
              <a:t>E</a:t>
            </a:r>
            <a:r>
              <a:rPr sz="2800" spc="45" dirty="0">
                <a:solidFill>
                  <a:srgbClr val="C00000"/>
                </a:solidFill>
              </a:rPr>
              <a:t>N</a:t>
            </a:r>
            <a:r>
              <a:rPr sz="2800" spc="20" dirty="0">
                <a:solidFill>
                  <a:srgbClr val="C00000"/>
                </a:solidFill>
              </a:rPr>
              <a:t>G</a:t>
            </a:r>
            <a:r>
              <a:rPr sz="2800" spc="-30" dirty="0">
                <a:solidFill>
                  <a:srgbClr val="C00000"/>
                </a:solidFill>
              </a:rPr>
              <a:t>A</a:t>
            </a:r>
            <a:r>
              <a:rPr sz="2800" spc="-10" dirty="0">
                <a:solidFill>
                  <a:srgbClr val="C00000"/>
                </a:solidFill>
              </a:rPr>
              <a:t>L</a:t>
            </a:r>
            <a:r>
              <a:rPr sz="2800" spc="45" dirty="0">
                <a:solidFill>
                  <a:srgbClr val="C00000"/>
                </a:solidFill>
              </a:rPr>
              <a:t>U</a:t>
            </a:r>
            <a:r>
              <a:rPr sz="2800" spc="-30" dirty="0">
                <a:solidFill>
                  <a:srgbClr val="C00000"/>
                </a:solidFill>
              </a:rPr>
              <a:t>R</a:t>
            </a:r>
            <a:r>
              <a:rPr sz="2800" spc="15" dirty="0">
                <a:solidFill>
                  <a:srgbClr val="C00000"/>
                </a:solidFill>
              </a:rPr>
              <a:t>U</a:t>
            </a:r>
            <a:r>
              <a:rPr sz="2800" spc="-105" dirty="0">
                <a:solidFill>
                  <a:srgbClr val="C00000"/>
                </a:solidFill>
              </a:rPr>
              <a:t> </a:t>
            </a:r>
            <a:r>
              <a:rPr sz="2800" spc="5" dirty="0">
                <a:solidFill>
                  <a:srgbClr val="C00000"/>
                </a:solidFill>
              </a:rPr>
              <a:t>-</a:t>
            </a:r>
            <a:r>
              <a:rPr sz="2800" spc="-100" dirty="0">
                <a:solidFill>
                  <a:srgbClr val="C00000"/>
                </a:solidFill>
              </a:rPr>
              <a:t> </a:t>
            </a:r>
            <a:r>
              <a:rPr sz="2800" spc="45" dirty="0">
                <a:solidFill>
                  <a:srgbClr val="C00000"/>
                </a:solidFill>
              </a:rPr>
              <a:t>5600</a:t>
            </a:r>
            <a:r>
              <a:rPr sz="2800" spc="-25" dirty="0">
                <a:solidFill>
                  <a:srgbClr val="C00000"/>
                </a:solidFill>
              </a:rPr>
              <a:t>6</a:t>
            </a:r>
            <a:r>
              <a:rPr sz="2800" spc="10" dirty="0">
                <a:solidFill>
                  <a:srgbClr val="C00000"/>
                </a:solidFill>
              </a:rPr>
              <a:t>4</a:t>
            </a:r>
            <a:endParaRPr sz="2800" dirty="0">
              <a:solidFill>
                <a:srgbClr val="C00000"/>
              </a:solidFill>
            </a:endParaRPr>
          </a:p>
        </p:txBody>
      </p:sp>
      <p:pic>
        <p:nvPicPr>
          <p:cNvPr id="9" name="object 9"/>
          <p:cNvPicPr/>
          <p:nvPr/>
        </p:nvPicPr>
        <p:blipFill>
          <a:blip r:embed="rId3" cstate="print"/>
          <a:stretch>
            <a:fillRect/>
          </a:stretch>
        </p:blipFill>
        <p:spPr>
          <a:xfrm>
            <a:off x="1007987" y="771214"/>
            <a:ext cx="1219200" cy="1204176"/>
          </a:xfrm>
          <a:prstGeom prst="rect">
            <a:avLst/>
          </a:prstGeom>
        </p:spPr>
      </p:pic>
      <p:sp>
        <p:nvSpPr>
          <p:cNvPr id="14" name="TextBox 13">
            <a:extLst>
              <a:ext uri="{FF2B5EF4-FFF2-40B4-BE49-F238E27FC236}">
                <a16:creationId xmlns:a16="http://schemas.microsoft.com/office/drawing/2014/main" id="{32B3461B-F4BE-C9CF-D785-4B5D236C7B32}"/>
              </a:ext>
            </a:extLst>
          </p:cNvPr>
          <p:cNvSpPr txBox="1"/>
          <p:nvPr/>
        </p:nvSpPr>
        <p:spPr>
          <a:xfrm>
            <a:off x="1015652" y="1693321"/>
            <a:ext cx="10591800"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DEPARTMENT OF COMPUTER SCIENCE AND ENGINEERING</a:t>
            </a:r>
          </a:p>
        </p:txBody>
      </p:sp>
      <p:sp>
        <p:nvSpPr>
          <p:cNvPr id="15" name="TextBox 14">
            <a:extLst>
              <a:ext uri="{FF2B5EF4-FFF2-40B4-BE49-F238E27FC236}">
                <a16:creationId xmlns:a16="http://schemas.microsoft.com/office/drawing/2014/main" id="{821AF314-6AD7-B26E-0BF2-908299474EBC}"/>
              </a:ext>
            </a:extLst>
          </p:cNvPr>
          <p:cNvSpPr txBox="1"/>
          <p:nvPr/>
        </p:nvSpPr>
        <p:spPr>
          <a:xfrm>
            <a:off x="2057401" y="2100729"/>
            <a:ext cx="8305800" cy="1815882"/>
          </a:xfrm>
          <a:prstGeom prst="rect">
            <a:avLst/>
          </a:prstGeom>
          <a:noFill/>
        </p:spPr>
        <p:txBody>
          <a:bodyPr wrap="square" rtlCol="0">
            <a:spAutoFit/>
          </a:bodyPr>
          <a:lstStyle/>
          <a:p>
            <a:pPr algn="ctr"/>
            <a:r>
              <a:rPr lang="en-US" sz="2400" b="1" i="0" dirty="0">
                <a:solidFill>
                  <a:schemeClr val="accent2">
                    <a:lumMod val="75000"/>
                  </a:schemeClr>
                </a:solidFill>
                <a:effectLst/>
                <a:latin typeface="Times New Roman" panose="02020603050405020304" pitchFamily="18" charset="0"/>
                <a:cs typeface="Times New Roman" panose="02020603050405020304" pitchFamily="18" charset="0"/>
              </a:rPr>
              <a:t>Final year Major Project Phase-II Stage-1</a:t>
            </a:r>
            <a:endParaRPr lang="en-US" sz="2400" b="1" dirty="0">
              <a:solidFill>
                <a:schemeClr val="accent2">
                  <a:lumMod val="75000"/>
                </a:schemeClr>
              </a:solidFill>
              <a:latin typeface="Times New Roman" panose="02020603050405020304" pitchFamily="18" charset="0"/>
              <a:cs typeface="Times New Roman" panose="02020603050405020304" pitchFamily="18" charset="0"/>
            </a:endParaRPr>
          </a:p>
          <a:p>
            <a:pPr algn="ctr"/>
            <a:r>
              <a:rPr lang="en-US" sz="2400" b="1" i="0" dirty="0">
                <a:solidFill>
                  <a:schemeClr val="accent2">
                    <a:lumMod val="75000"/>
                  </a:schemeClr>
                </a:solidFill>
                <a:effectLst/>
                <a:latin typeface="Times New Roman" panose="02020603050405020304" pitchFamily="18" charset="0"/>
                <a:cs typeface="Times New Roman" panose="02020603050405020304" pitchFamily="18" charset="0"/>
              </a:rPr>
              <a:t>Presentation On</a:t>
            </a:r>
          </a:p>
          <a:p>
            <a:pPr algn="ctr"/>
            <a:r>
              <a:rPr lang="en-US" sz="3200" b="1" i="0" dirty="0">
                <a:solidFill>
                  <a:schemeClr val="accent2">
                    <a:lumMod val="75000"/>
                  </a:schemeClr>
                </a:solidFill>
                <a:effectLst/>
                <a:latin typeface="Times New Roman" panose="02020603050405020304" pitchFamily="18" charset="0"/>
                <a:cs typeface="Times New Roman" panose="02020603050405020304" pitchFamily="18" charset="0"/>
              </a:rPr>
              <a:t> “</a:t>
            </a:r>
            <a:r>
              <a:rPr lang="en-US" sz="2800" b="1" spc="-60" dirty="0">
                <a:solidFill>
                  <a:srgbClr val="001F5F"/>
                </a:solidFill>
                <a:latin typeface="Times New Roman"/>
                <a:cs typeface="Times New Roman"/>
              </a:rPr>
              <a:t>Explainable AI-Driven Intrusion Detection for Cloud Security: A Hybrid LSTM-Based Approach</a:t>
            </a:r>
            <a:r>
              <a:rPr lang="en-US" sz="3200" b="1" i="0" dirty="0">
                <a:solidFill>
                  <a:schemeClr val="accent2">
                    <a:lumMod val="75000"/>
                  </a:schemeClr>
                </a:solidFill>
                <a:effectLst/>
                <a:latin typeface="Times New Roman" panose="02020603050405020304" pitchFamily="18" charset="0"/>
                <a:cs typeface="Times New Roman" panose="02020603050405020304" pitchFamily="18" charset="0"/>
              </a:rPr>
              <a:t>”</a:t>
            </a:r>
            <a:endParaRPr lang="en-IN" sz="3200" b="1" dirty="0">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CCDFFC99-47AF-9F4C-B3F8-36AB618BC2C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12922" y="1628072"/>
            <a:ext cx="1014653" cy="646331"/>
          </a:xfrm>
          <a:prstGeom prst="rect">
            <a:avLst/>
          </a:prstGeom>
        </p:spPr>
      </p:pic>
      <p:pic>
        <p:nvPicPr>
          <p:cNvPr id="7" name="image2.jpeg">
            <a:extLst>
              <a:ext uri="{FF2B5EF4-FFF2-40B4-BE49-F238E27FC236}">
                <a16:creationId xmlns:a16="http://schemas.microsoft.com/office/drawing/2014/main" id="{D3CCE130-2D88-767E-C4B8-3C604F9EF7FE}"/>
              </a:ext>
            </a:extLst>
          </p:cNvPr>
          <p:cNvPicPr>
            <a:picLocks noChangeAspect="1"/>
          </p:cNvPicPr>
          <p:nvPr/>
        </p:nvPicPr>
        <p:blipFill>
          <a:blip r:embed="rId5" cstate="print"/>
          <a:stretch>
            <a:fillRect/>
          </a:stretch>
        </p:blipFill>
        <p:spPr>
          <a:xfrm>
            <a:off x="10258602" y="726157"/>
            <a:ext cx="842808" cy="820189"/>
          </a:xfrm>
          <a:prstGeom prst="rect">
            <a:avLst/>
          </a:prstGeom>
        </p:spPr>
      </p:pic>
      <p:sp>
        <p:nvSpPr>
          <p:cNvPr id="16" name="object 11">
            <a:extLst>
              <a:ext uri="{FF2B5EF4-FFF2-40B4-BE49-F238E27FC236}">
                <a16:creationId xmlns:a16="http://schemas.microsoft.com/office/drawing/2014/main" id="{2DFEAB77-54D5-E713-C2AE-6E076960A2DD}"/>
              </a:ext>
            </a:extLst>
          </p:cNvPr>
          <p:cNvSpPr txBox="1"/>
          <p:nvPr/>
        </p:nvSpPr>
        <p:spPr>
          <a:xfrm>
            <a:off x="460244" y="4244651"/>
            <a:ext cx="5886142" cy="1840056"/>
          </a:xfrm>
          <a:prstGeom prst="rect">
            <a:avLst/>
          </a:prstGeom>
        </p:spPr>
        <p:txBody>
          <a:bodyPr vert="horz" wrap="square" lIns="0" tIns="13335" rIns="0" bIns="0" rtlCol="0">
            <a:spAutoFit/>
          </a:bodyPr>
          <a:lstStyle/>
          <a:p>
            <a:pPr marL="12065" algn="ctr">
              <a:lnSpc>
                <a:spcPts val="2870"/>
              </a:lnSpc>
              <a:spcBef>
                <a:spcPts val="105"/>
              </a:spcBef>
            </a:pPr>
            <a:r>
              <a:rPr lang="en-IN" sz="2000" b="1" u="sng" spc="65" dirty="0">
                <a:solidFill>
                  <a:srgbClr val="001F5F"/>
                </a:solidFill>
                <a:latin typeface="Times New Roman" panose="02020603050405020304" pitchFamily="18" charset="0"/>
                <a:cs typeface="Times New Roman" panose="02020603050405020304" pitchFamily="18" charset="0"/>
              </a:rPr>
              <a:t>Presented By</a:t>
            </a:r>
            <a:endParaRPr lang="en-IN" sz="2000" u="sng" dirty="0">
              <a:latin typeface="Times New Roman" panose="02020603050405020304" pitchFamily="18" charset="0"/>
              <a:cs typeface="Times New Roman" panose="02020603050405020304" pitchFamily="18" charset="0"/>
            </a:endParaRPr>
          </a:p>
          <a:p>
            <a:pPr algn="ctr">
              <a:lnSpc>
                <a:spcPts val="2870"/>
              </a:lnSpc>
              <a:tabLst>
                <a:tab pos="2426970" algn="l"/>
              </a:tabLst>
            </a:pPr>
            <a:r>
              <a:rPr lang="en-IN" sz="2000" b="1" spc="315" dirty="0">
                <a:solidFill>
                  <a:srgbClr val="001F5F"/>
                </a:solidFill>
                <a:latin typeface="Times New Roman" panose="02020603050405020304" pitchFamily="18" charset="0"/>
                <a:cs typeface="Times New Roman" panose="02020603050405020304" pitchFamily="18" charset="0"/>
              </a:rPr>
              <a:t>Bhuvan M                  1VA22CS022</a:t>
            </a:r>
          </a:p>
          <a:p>
            <a:pPr algn="ctr">
              <a:lnSpc>
                <a:spcPts val="2870"/>
              </a:lnSpc>
              <a:tabLst>
                <a:tab pos="2426970" algn="l"/>
              </a:tabLst>
            </a:pPr>
            <a:r>
              <a:rPr lang="en-IN" sz="2000" b="1" spc="315" dirty="0" err="1">
                <a:solidFill>
                  <a:srgbClr val="001F5F"/>
                </a:solidFill>
                <a:latin typeface="Times New Roman" panose="02020603050405020304" pitchFamily="18" charset="0"/>
                <a:cs typeface="Times New Roman" panose="02020603050405020304" pitchFamily="18" charset="0"/>
              </a:rPr>
              <a:t>Krishnakant</a:t>
            </a:r>
            <a:r>
              <a:rPr lang="en-IN" sz="2000" b="1" spc="315" dirty="0">
                <a:solidFill>
                  <a:srgbClr val="001F5F"/>
                </a:solidFill>
                <a:latin typeface="Times New Roman" panose="02020603050405020304" pitchFamily="18" charset="0"/>
                <a:cs typeface="Times New Roman" panose="02020603050405020304" pitchFamily="18" charset="0"/>
              </a:rPr>
              <a:t> Bhushan  1VA22CS053</a:t>
            </a:r>
            <a:endParaRPr lang="en-IN" sz="2000" b="1" spc="30" dirty="0">
              <a:solidFill>
                <a:srgbClr val="001F5F"/>
              </a:solidFill>
              <a:latin typeface="Times New Roman" panose="02020603050405020304" pitchFamily="18" charset="0"/>
              <a:cs typeface="Times New Roman" panose="02020603050405020304" pitchFamily="18" charset="0"/>
            </a:endParaRPr>
          </a:p>
          <a:p>
            <a:pPr algn="ctr">
              <a:lnSpc>
                <a:spcPts val="2870"/>
              </a:lnSpc>
              <a:tabLst>
                <a:tab pos="2426970" algn="l"/>
              </a:tabLst>
            </a:pPr>
            <a:r>
              <a:rPr lang="en-IN" sz="2000" b="1" spc="30" dirty="0">
                <a:solidFill>
                  <a:srgbClr val="001F5F"/>
                </a:solidFill>
                <a:latin typeface="Times New Roman" panose="02020603050405020304" pitchFamily="18" charset="0"/>
                <a:cs typeface="Times New Roman" panose="02020603050405020304" pitchFamily="18" charset="0"/>
              </a:rPr>
              <a:t>Manoj L Bhat</a:t>
            </a:r>
            <a:r>
              <a:rPr lang="en-IN" sz="2000" b="1" spc="150" dirty="0">
                <a:solidFill>
                  <a:srgbClr val="001F5F"/>
                </a:solidFill>
                <a:latin typeface="Times New Roman" panose="02020603050405020304" pitchFamily="18" charset="0"/>
                <a:cs typeface="Times New Roman" panose="02020603050405020304" pitchFamily="18" charset="0"/>
              </a:rPr>
              <a:t>	            </a:t>
            </a:r>
            <a:r>
              <a:rPr lang="en-IN" sz="2000" b="1" spc="315" dirty="0">
                <a:solidFill>
                  <a:srgbClr val="001F5F"/>
                </a:solidFill>
                <a:latin typeface="Times New Roman" panose="02020603050405020304" pitchFamily="18" charset="0"/>
                <a:cs typeface="Times New Roman" panose="02020603050405020304" pitchFamily="18" charset="0"/>
              </a:rPr>
              <a:t>1VA22CS070</a:t>
            </a:r>
          </a:p>
          <a:p>
            <a:pPr algn="ctr">
              <a:lnSpc>
                <a:spcPts val="2870"/>
              </a:lnSpc>
              <a:tabLst>
                <a:tab pos="2426970" algn="l"/>
              </a:tabLst>
            </a:pPr>
            <a:r>
              <a:rPr lang="en-IN" sz="2000" b="1" spc="315" dirty="0" err="1">
                <a:solidFill>
                  <a:srgbClr val="001F5F"/>
                </a:solidFill>
                <a:latin typeface="Times New Roman" panose="02020603050405020304" pitchFamily="18" charset="0"/>
                <a:cs typeface="Times New Roman" panose="02020603050405020304" pitchFamily="18" charset="0"/>
              </a:rPr>
              <a:t>Thrisha</a:t>
            </a:r>
            <a:r>
              <a:rPr lang="en-IN" sz="2000" b="1" spc="315" dirty="0">
                <a:solidFill>
                  <a:srgbClr val="001F5F"/>
                </a:solidFill>
                <a:latin typeface="Times New Roman" panose="02020603050405020304" pitchFamily="18" charset="0"/>
                <a:cs typeface="Times New Roman" panose="02020603050405020304" pitchFamily="18" charset="0"/>
              </a:rPr>
              <a:t> N S                1VA22CS119</a:t>
            </a:r>
          </a:p>
        </p:txBody>
      </p:sp>
      <p:sp>
        <p:nvSpPr>
          <p:cNvPr id="17" name="object 12">
            <a:extLst>
              <a:ext uri="{FF2B5EF4-FFF2-40B4-BE49-F238E27FC236}">
                <a16:creationId xmlns:a16="http://schemas.microsoft.com/office/drawing/2014/main" id="{737EE2A5-6359-585C-1994-7313DE339C94}"/>
              </a:ext>
            </a:extLst>
          </p:cNvPr>
          <p:cNvSpPr txBox="1"/>
          <p:nvPr/>
        </p:nvSpPr>
        <p:spPr>
          <a:xfrm>
            <a:off x="8178452" y="4214171"/>
            <a:ext cx="3429000" cy="2244845"/>
          </a:xfrm>
          <a:prstGeom prst="rect">
            <a:avLst/>
          </a:prstGeom>
        </p:spPr>
        <p:txBody>
          <a:bodyPr vert="horz" wrap="square" lIns="0" tIns="13335" rIns="0" bIns="0" rtlCol="0">
            <a:spAutoFit/>
          </a:bodyPr>
          <a:lstStyle/>
          <a:p>
            <a:pPr marL="12700" marR="5080" algn="ctr">
              <a:lnSpc>
                <a:spcPct val="100000"/>
              </a:lnSpc>
              <a:spcBef>
                <a:spcPts val="105"/>
              </a:spcBef>
            </a:pPr>
            <a:r>
              <a:rPr lang="en-US" sz="2000" b="1" u="sng" spc="320" dirty="0">
                <a:solidFill>
                  <a:srgbClr val="001F5F"/>
                </a:solidFill>
                <a:latin typeface="Times New Roman" panose="02020603050405020304" pitchFamily="18" charset="0"/>
                <a:cs typeface="Times New Roman" panose="02020603050405020304" pitchFamily="18" charset="0"/>
              </a:rPr>
              <a:t>Under</a:t>
            </a:r>
            <a:r>
              <a:rPr lang="en-US" sz="2000" b="1" u="sng" spc="-155" dirty="0">
                <a:solidFill>
                  <a:srgbClr val="001F5F"/>
                </a:solidFill>
                <a:latin typeface="Times New Roman" panose="02020603050405020304" pitchFamily="18" charset="0"/>
                <a:cs typeface="Times New Roman" panose="02020603050405020304" pitchFamily="18" charset="0"/>
              </a:rPr>
              <a:t> </a:t>
            </a:r>
            <a:r>
              <a:rPr lang="en-US" sz="2000" b="1" u="sng" dirty="0">
                <a:solidFill>
                  <a:srgbClr val="001F5F"/>
                </a:solidFill>
                <a:latin typeface="Times New Roman" panose="02020603050405020304" pitchFamily="18" charset="0"/>
                <a:cs typeface="Times New Roman" panose="02020603050405020304" pitchFamily="18" charset="0"/>
              </a:rPr>
              <a:t>t</a:t>
            </a:r>
            <a:r>
              <a:rPr lang="en-US" sz="2000" b="1" u="sng" spc="15" dirty="0">
                <a:solidFill>
                  <a:srgbClr val="001F5F"/>
                </a:solidFill>
                <a:latin typeface="Times New Roman" panose="02020603050405020304" pitchFamily="18" charset="0"/>
                <a:cs typeface="Times New Roman" panose="02020603050405020304" pitchFamily="18" charset="0"/>
              </a:rPr>
              <a:t>h</a:t>
            </a:r>
            <a:r>
              <a:rPr lang="en-US" sz="2000" b="1" u="sng" spc="-55" dirty="0">
                <a:solidFill>
                  <a:srgbClr val="001F5F"/>
                </a:solidFill>
                <a:latin typeface="Times New Roman" panose="02020603050405020304" pitchFamily="18" charset="0"/>
                <a:cs typeface="Times New Roman" panose="02020603050405020304" pitchFamily="18" charset="0"/>
              </a:rPr>
              <a:t>e</a:t>
            </a:r>
            <a:r>
              <a:rPr lang="en-US" sz="2000" b="1" u="sng" spc="-35" dirty="0">
                <a:solidFill>
                  <a:srgbClr val="001F5F"/>
                </a:solidFill>
                <a:latin typeface="Times New Roman" panose="02020603050405020304" pitchFamily="18" charset="0"/>
                <a:cs typeface="Times New Roman" panose="02020603050405020304" pitchFamily="18" charset="0"/>
              </a:rPr>
              <a:t> </a:t>
            </a:r>
            <a:r>
              <a:rPr lang="en-US" sz="2000" b="1" u="sng" spc="70" dirty="0">
                <a:solidFill>
                  <a:srgbClr val="001F5F"/>
                </a:solidFill>
                <a:latin typeface="Times New Roman" panose="02020603050405020304" pitchFamily="18" charset="0"/>
                <a:cs typeface="Times New Roman" panose="02020603050405020304" pitchFamily="18" charset="0"/>
              </a:rPr>
              <a:t>g</a:t>
            </a:r>
            <a:r>
              <a:rPr lang="en-US" sz="2000" b="1" u="sng" dirty="0">
                <a:solidFill>
                  <a:srgbClr val="001F5F"/>
                </a:solidFill>
                <a:latin typeface="Times New Roman" panose="02020603050405020304" pitchFamily="18" charset="0"/>
                <a:cs typeface="Times New Roman" panose="02020603050405020304" pitchFamily="18" charset="0"/>
              </a:rPr>
              <a:t>u</a:t>
            </a:r>
            <a:r>
              <a:rPr lang="en-US" sz="2000" b="1" u="sng" spc="-45" dirty="0">
                <a:solidFill>
                  <a:srgbClr val="001F5F"/>
                </a:solidFill>
                <a:latin typeface="Times New Roman" panose="02020603050405020304" pitchFamily="18" charset="0"/>
                <a:cs typeface="Times New Roman" panose="02020603050405020304" pitchFamily="18" charset="0"/>
              </a:rPr>
              <a:t>i</a:t>
            </a:r>
            <a:r>
              <a:rPr lang="en-US" sz="2000" b="1" u="sng" spc="25" dirty="0">
                <a:solidFill>
                  <a:srgbClr val="001F5F"/>
                </a:solidFill>
                <a:latin typeface="Times New Roman" panose="02020603050405020304" pitchFamily="18" charset="0"/>
                <a:cs typeface="Times New Roman" panose="02020603050405020304" pitchFamily="18" charset="0"/>
              </a:rPr>
              <a:t>d</a:t>
            </a:r>
            <a:r>
              <a:rPr lang="en-US" sz="2000" b="1" u="sng" spc="-10" dirty="0">
                <a:solidFill>
                  <a:srgbClr val="001F5F"/>
                </a:solidFill>
                <a:latin typeface="Times New Roman" panose="02020603050405020304" pitchFamily="18" charset="0"/>
                <a:cs typeface="Times New Roman" panose="02020603050405020304" pitchFamily="18" charset="0"/>
              </a:rPr>
              <a:t>a</a:t>
            </a:r>
            <a:r>
              <a:rPr lang="en-US" sz="2000" b="1" u="sng" spc="5" dirty="0">
                <a:solidFill>
                  <a:srgbClr val="001F5F"/>
                </a:solidFill>
                <a:latin typeface="Times New Roman" panose="02020603050405020304" pitchFamily="18" charset="0"/>
                <a:cs typeface="Times New Roman" panose="02020603050405020304" pitchFamily="18" charset="0"/>
              </a:rPr>
              <a:t>n</a:t>
            </a:r>
            <a:r>
              <a:rPr lang="en-US" sz="2000" b="1" u="sng" spc="-40" dirty="0">
                <a:solidFill>
                  <a:srgbClr val="001F5F"/>
                </a:solidFill>
                <a:latin typeface="Times New Roman" panose="02020603050405020304" pitchFamily="18" charset="0"/>
                <a:cs typeface="Times New Roman" panose="02020603050405020304" pitchFamily="18" charset="0"/>
              </a:rPr>
              <a:t>ce</a:t>
            </a:r>
            <a:r>
              <a:rPr lang="en-US" sz="2000" b="1" u="sng" spc="-185" dirty="0">
                <a:solidFill>
                  <a:srgbClr val="001F5F"/>
                </a:solidFill>
                <a:latin typeface="Times New Roman" panose="02020603050405020304" pitchFamily="18" charset="0"/>
                <a:cs typeface="Times New Roman" panose="02020603050405020304" pitchFamily="18" charset="0"/>
              </a:rPr>
              <a:t> </a:t>
            </a:r>
            <a:r>
              <a:rPr lang="en-US" sz="2000" b="1" u="sng" spc="-45" dirty="0">
                <a:solidFill>
                  <a:srgbClr val="001F5F"/>
                </a:solidFill>
                <a:latin typeface="Times New Roman" panose="02020603050405020304" pitchFamily="18" charset="0"/>
                <a:cs typeface="Times New Roman" panose="02020603050405020304" pitchFamily="18" charset="0"/>
              </a:rPr>
              <a:t>of  </a:t>
            </a:r>
          </a:p>
          <a:p>
            <a:pPr marL="12700" marR="5080" algn="ctr">
              <a:lnSpc>
                <a:spcPct val="100000"/>
              </a:lnSpc>
              <a:spcBef>
                <a:spcPts val="105"/>
              </a:spcBef>
            </a:pPr>
            <a:r>
              <a:rPr lang="en-US" sz="2000" b="1" u="sng" spc="50" dirty="0">
                <a:solidFill>
                  <a:srgbClr val="001F5F"/>
                </a:solidFill>
                <a:latin typeface="Times New Roman" panose="02020603050405020304" pitchFamily="18" charset="0"/>
                <a:cs typeface="Times New Roman" panose="02020603050405020304" pitchFamily="18" charset="0"/>
              </a:rPr>
              <a:t>Guide</a:t>
            </a:r>
            <a:r>
              <a:rPr lang="en-US" sz="2000" b="1" spc="50" dirty="0">
                <a:solidFill>
                  <a:srgbClr val="001F5F"/>
                </a:solidFill>
                <a:latin typeface="Times New Roman" panose="02020603050405020304" pitchFamily="18" charset="0"/>
                <a:cs typeface="Times New Roman" panose="02020603050405020304" pitchFamily="18" charset="0"/>
              </a:rPr>
              <a:t>: Dr. Vinod Desai</a:t>
            </a:r>
          </a:p>
          <a:p>
            <a:pPr marL="12700" marR="5080" algn="ctr">
              <a:lnSpc>
                <a:spcPct val="100000"/>
              </a:lnSpc>
              <a:spcBef>
                <a:spcPts val="105"/>
              </a:spcBef>
            </a:pPr>
            <a:r>
              <a:rPr lang="en-US" sz="2000" b="1" spc="50" dirty="0">
                <a:solidFill>
                  <a:srgbClr val="001F5F"/>
                </a:solidFill>
                <a:latin typeface="Times New Roman" panose="02020603050405020304" pitchFamily="18" charset="0"/>
                <a:cs typeface="Times New Roman" panose="02020603050405020304" pitchFamily="18" charset="0"/>
              </a:rPr>
              <a:t>Assoc Prof. </a:t>
            </a:r>
          </a:p>
          <a:p>
            <a:pPr marL="12700" marR="5080" algn="ctr">
              <a:lnSpc>
                <a:spcPct val="100000"/>
              </a:lnSpc>
              <a:spcBef>
                <a:spcPts val="105"/>
              </a:spcBef>
            </a:pPr>
            <a:r>
              <a:rPr lang="en-US" sz="2000" b="1" spc="50" dirty="0">
                <a:solidFill>
                  <a:srgbClr val="001F5F"/>
                </a:solidFill>
                <a:latin typeface="Times New Roman" panose="02020603050405020304" pitchFamily="18" charset="0"/>
                <a:cs typeface="Times New Roman" panose="02020603050405020304" pitchFamily="18" charset="0"/>
              </a:rPr>
              <a:t>Dept. of CSE</a:t>
            </a:r>
          </a:p>
          <a:p>
            <a:pPr marL="12700" marR="5080" algn="ctr">
              <a:lnSpc>
                <a:spcPct val="100000"/>
              </a:lnSpc>
              <a:spcBef>
                <a:spcPts val="105"/>
              </a:spcBef>
            </a:pPr>
            <a:r>
              <a:rPr lang="en-US" sz="2000" b="1" u="sng" spc="50" dirty="0">
                <a:solidFill>
                  <a:srgbClr val="001F5F"/>
                </a:solidFill>
                <a:latin typeface="Times New Roman" panose="02020603050405020304" pitchFamily="18" charset="0"/>
                <a:cs typeface="Times New Roman" panose="02020603050405020304" pitchFamily="18" charset="0"/>
              </a:rPr>
              <a:t>Co-Guide</a:t>
            </a:r>
            <a:r>
              <a:rPr lang="en-US" sz="2000" b="1" spc="50" dirty="0">
                <a:solidFill>
                  <a:srgbClr val="001F5F"/>
                </a:solidFill>
                <a:latin typeface="Times New Roman" panose="02020603050405020304" pitchFamily="18" charset="0"/>
                <a:cs typeface="Times New Roman" panose="02020603050405020304" pitchFamily="18" charset="0"/>
              </a:rPr>
              <a:t>: </a:t>
            </a:r>
            <a:r>
              <a:rPr lang="en-US" sz="2000" b="1" spc="50" dirty="0" err="1">
                <a:solidFill>
                  <a:srgbClr val="001F5F"/>
                </a:solidFill>
                <a:latin typeface="Times New Roman" panose="02020603050405020304" pitchFamily="18" charset="0"/>
                <a:cs typeface="Times New Roman" panose="02020603050405020304" pitchFamily="18" charset="0"/>
              </a:rPr>
              <a:t>Ramanjinamma</a:t>
            </a:r>
            <a:r>
              <a:rPr lang="en-US" sz="2000" b="1" spc="50" dirty="0">
                <a:solidFill>
                  <a:srgbClr val="001F5F"/>
                </a:solidFill>
                <a:latin typeface="Times New Roman" panose="02020603050405020304" pitchFamily="18" charset="0"/>
                <a:cs typeface="Times New Roman" panose="02020603050405020304" pitchFamily="18" charset="0"/>
              </a:rPr>
              <a:t> G</a:t>
            </a:r>
            <a:endParaRPr lang="en-US" sz="2000" b="1" spc="155" dirty="0">
              <a:solidFill>
                <a:srgbClr val="001F5F"/>
              </a:solidFill>
              <a:latin typeface="Times New Roman" panose="02020603050405020304" pitchFamily="18" charset="0"/>
              <a:cs typeface="Times New Roman" panose="02020603050405020304" pitchFamily="18" charset="0"/>
            </a:endParaRPr>
          </a:p>
          <a:p>
            <a:pPr marL="12700" marR="5080" algn="ctr">
              <a:lnSpc>
                <a:spcPct val="100000"/>
              </a:lnSpc>
              <a:spcBef>
                <a:spcPts val="105"/>
              </a:spcBef>
            </a:pPr>
            <a:r>
              <a:rPr lang="en-US" sz="2000" b="1" spc="35" dirty="0">
                <a:solidFill>
                  <a:srgbClr val="001F5F"/>
                </a:solidFill>
                <a:latin typeface="Times New Roman" panose="02020603050405020304" pitchFamily="18" charset="0"/>
                <a:cs typeface="Times New Roman" panose="02020603050405020304" pitchFamily="18" charset="0"/>
              </a:rPr>
              <a:t>Asst Prof.</a:t>
            </a:r>
            <a:r>
              <a:rPr lang="en-US" sz="2000" b="1" spc="40" dirty="0">
                <a:solidFill>
                  <a:srgbClr val="001F5F"/>
                </a:solidFill>
                <a:latin typeface="Times New Roman" panose="02020603050405020304" pitchFamily="18" charset="0"/>
                <a:cs typeface="Times New Roman" panose="02020603050405020304" pitchFamily="18" charset="0"/>
              </a:rPr>
              <a:t> </a:t>
            </a:r>
          </a:p>
          <a:p>
            <a:pPr marL="12700" marR="5080" algn="ctr">
              <a:lnSpc>
                <a:spcPct val="100000"/>
              </a:lnSpc>
              <a:spcBef>
                <a:spcPts val="105"/>
              </a:spcBef>
            </a:pPr>
            <a:r>
              <a:rPr lang="en-US" sz="2000" b="1" spc="40" dirty="0">
                <a:solidFill>
                  <a:srgbClr val="001F5F"/>
                </a:solidFill>
                <a:latin typeface="Times New Roman" panose="02020603050405020304" pitchFamily="18" charset="0"/>
                <a:cs typeface="Times New Roman" panose="02020603050405020304" pitchFamily="18" charset="0"/>
              </a:rPr>
              <a:t>Dept. of CSE</a:t>
            </a:r>
            <a:endParaRPr lang="en-US" sz="2000" dirty="0">
              <a:latin typeface="Times New Roman" panose="02020603050405020304" pitchFamily="18" charset="0"/>
              <a:cs typeface="Times New Roman" panose="02020603050405020304" pitchFamily="18" charset="0"/>
            </a:endParaRPr>
          </a:p>
        </p:txBody>
      </p:sp>
      <p:sp>
        <p:nvSpPr>
          <p:cNvPr id="12" name="Slide Number Placeholder 11">
            <a:extLst>
              <a:ext uri="{FF2B5EF4-FFF2-40B4-BE49-F238E27FC236}">
                <a16:creationId xmlns:a16="http://schemas.microsoft.com/office/drawing/2014/main" id="{887E7394-80F7-60DD-667E-038C0668C7E0}"/>
              </a:ext>
            </a:extLst>
          </p:cNvPr>
          <p:cNvSpPr>
            <a:spLocks noGrp="1"/>
          </p:cNvSpPr>
          <p:nvPr>
            <p:ph type="sldNum" sz="quarter" idx="7"/>
          </p:nvPr>
        </p:nvSpPr>
        <p:spPr>
          <a:xfrm>
            <a:off x="8961121" y="6350719"/>
            <a:ext cx="2804160" cy="342900"/>
          </a:xfrm>
        </p:spPr>
        <p:txBody>
          <a:bodyPr/>
          <a:lstStyle/>
          <a:p>
            <a:fld id="{B6F15528-21DE-4FAA-801E-634DDDAF4B2B}" type="slidenum">
              <a:rPr lang="en-IN" smtClean="0"/>
              <a:t>1</a:t>
            </a:fld>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13" name="Content Placeholder 2"/>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4" name="object 11">
            <a:extLst>
              <a:ext uri="{FF2B5EF4-FFF2-40B4-BE49-F238E27FC236}">
                <a16:creationId xmlns:a16="http://schemas.microsoft.com/office/drawing/2014/main" id="{2B993477-D250-89C1-042B-1F28C0922AA1}"/>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sp>
        <p:nvSpPr>
          <p:cNvPr id="5" name="Text Placeholder 2">
            <a:extLst>
              <a:ext uri="{FF2B5EF4-FFF2-40B4-BE49-F238E27FC236}">
                <a16:creationId xmlns:a16="http://schemas.microsoft.com/office/drawing/2014/main" id="{CD1FDDD9-4F93-CE6F-4B6D-9CBA9C5F5781}"/>
              </a:ext>
            </a:extLst>
          </p:cNvPr>
          <p:cNvSpPr>
            <a:spLocks noGrp="1"/>
          </p:cNvSpPr>
          <p:nvPr>
            <p:ph type="body" idx="1"/>
          </p:nvPr>
        </p:nvSpPr>
        <p:spPr>
          <a:xfrm>
            <a:off x="228600" y="1371600"/>
            <a:ext cx="11658600" cy="3637984"/>
          </a:xfrm>
        </p:spPr>
        <p:txBody>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Overview of project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Proposed System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Problem statement and Objectives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Design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Methodology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Progress of Implementation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Conclusion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References</a:t>
            </a:r>
            <a:endParaRPr lang="en-IN" sz="2000" dirty="0">
              <a:latin typeface="Times New Roman" panose="02020603050405020304" pitchFamily="18" charset="0"/>
              <a:cs typeface="Times New Roman" panose="02020603050405020304" pitchFamily="18" charset="0"/>
            </a:endParaRPr>
          </a:p>
        </p:txBody>
      </p:sp>
      <p:pic>
        <p:nvPicPr>
          <p:cNvPr id="6" name="object 9">
            <a:extLst>
              <a:ext uri="{FF2B5EF4-FFF2-40B4-BE49-F238E27FC236}">
                <a16:creationId xmlns:a16="http://schemas.microsoft.com/office/drawing/2014/main" id="{7D378DFA-5F50-91C9-281D-9C3C7C3AF2B1}"/>
              </a:ext>
            </a:extLst>
          </p:cNvPr>
          <p:cNvPicPr/>
          <p:nvPr/>
        </p:nvPicPr>
        <p:blipFill>
          <a:blip r:embed="rId2" cstate="print"/>
          <a:stretch>
            <a:fillRect/>
          </a:stretch>
        </p:blipFill>
        <p:spPr>
          <a:xfrm>
            <a:off x="11115675" y="9525"/>
            <a:ext cx="1076325" cy="1076325"/>
          </a:xfrm>
          <a:prstGeom prst="rect">
            <a:avLst/>
          </a:prstGeom>
        </p:spPr>
      </p:pic>
      <p:sp>
        <p:nvSpPr>
          <p:cNvPr id="7" name="object 5">
            <a:extLst>
              <a:ext uri="{FF2B5EF4-FFF2-40B4-BE49-F238E27FC236}">
                <a16:creationId xmlns:a16="http://schemas.microsoft.com/office/drawing/2014/main" id="{2F5E0AE9-CB1F-D084-DB40-6AF9AFD351CB}"/>
              </a:ext>
            </a:extLst>
          </p:cNvPr>
          <p:cNvSpPr/>
          <p:nvPr/>
        </p:nvSpPr>
        <p:spPr>
          <a:xfrm>
            <a:off x="-12771" y="0"/>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7" name="TextBox 16">
            <a:extLst>
              <a:ext uri="{FF2B5EF4-FFF2-40B4-BE49-F238E27FC236}">
                <a16:creationId xmlns:a16="http://schemas.microsoft.com/office/drawing/2014/main" id="{D987880E-1D58-3794-9A4C-20B63DFCD2A8}"/>
              </a:ext>
            </a:extLst>
          </p:cNvPr>
          <p:cNvSpPr txBox="1"/>
          <p:nvPr/>
        </p:nvSpPr>
        <p:spPr>
          <a:xfrm>
            <a:off x="76200" y="152400"/>
            <a:ext cx="7058710"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PRESENTATION OUTLINE</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11" name="Slide Number Placeholder 10">
            <a:extLst>
              <a:ext uri="{FF2B5EF4-FFF2-40B4-BE49-F238E27FC236}">
                <a16:creationId xmlns:a16="http://schemas.microsoft.com/office/drawing/2014/main" id="{86205573-A447-EC23-ED00-0A998822C1A7}"/>
              </a:ext>
            </a:extLst>
          </p:cNvPr>
          <p:cNvSpPr>
            <a:spLocks noGrp="1"/>
          </p:cNvSpPr>
          <p:nvPr>
            <p:ph type="sldNum" sz="quarter" idx="7"/>
          </p:nvPr>
        </p:nvSpPr>
        <p:spPr>
          <a:xfrm>
            <a:off x="9083040" y="6547527"/>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2</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2" name="Footer Placeholder 11">
            <a:extLst>
              <a:ext uri="{FF2B5EF4-FFF2-40B4-BE49-F238E27FC236}">
                <a16:creationId xmlns:a16="http://schemas.microsoft.com/office/drawing/2014/main" id="{4AD00721-12E8-5D2D-595C-5C8F1CEA7C4D}"/>
              </a:ext>
            </a:extLst>
          </p:cNvPr>
          <p:cNvSpPr>
            <a:spLocks noGrp="1"/>
          </p:cNvSpPr>
          <p:nvPr>
            <p:ph type="ftr" sz="quarter" idx="5"/>
          </p:nvPr>
        </p:nvSpPr>
        <p:spPr>
          <a:xfrm>
            <a:off x="78738" y="6547528"/>
            <a:ext cx="1978661" cy="269304"/>
          </a:xfrm>
        </p:spPr>
        <p:txBody>
          <a:bodyPr/>
          <a:lstStyle/>
          <a:p>
            <a:pPr marL="12700">
              <a:lnSpc>
                <a:spcPts val="2135"/>
              </a:lnSpc>
            </a:pPr>
            <a:r>
              <a:rPr lang="en-IN" b="1" spc="65" dirty="0">
                <a:solidFill>
                  <a:schemeClr val="bg1"/>
                </a:solidFill>
                <a:latin typeface="Times New Roman" panose="02020603050405020304" pitchFamily="18" charset="0"/>
                <a:cs typeface="Times New Roman" panose="02020603050405020304" pitchFamily="18" charset="0"/>
              </a:rPr>
              <a:t>D</a:t>
            </a:r>
            <a:r>
              <a:rPr lang="en-IN" b="1" spc="95" dirty="0">
                <a:solidFill>
                  <a:schemeClr val="bg1"/>
                </a:solidFill>
                <a:latin typeface="Times New Roman" panose="02020603050405020304" pitchFamily="18" charset="0"/>
                <a:cs typeface="Times New Roman" panose="02020603050405020304" pitchFamily="18" charset="0"/>
              </a:rPr>
              <a:t>e</a:t>
            </a:r>
            <a:r>
              <a:rPr lang="en-IN" b="1" spc="-165" dirty="0">
                <a:solidFill>
                  <a:schemeClr val="bg1"/>
                </a:solidFill>
                <a:latin typeface="Times New Roman" panose="02020603050405020304" pitchFamily="18" charset="0"/>
                <a:cs typeface="Times New Roman" panose="02020603050405020304" pitchFamily="18" charset="0"/>
              </a:rPr>
              <a:t>pt.</a:t>
            </a:r>
            <a:r>
              <a:rPr lang="en-IN" b="1" spc="-265"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o</a:t>
            </a:r>
            <a:r>
              <a:rPr lang="en-IN" b="1" spc="-215" dirty="0">
                <a:solidFill>
                  <a:schemeClr val="bg1"/>
                </a:solidFill>
                <a:latin typeface="Times New Roman" panose="02020603050405020304" pitchFamily="18" charset="0"/>
                <a:cs typeface="Times New Roman" panose="02020603050405020304" pitchFamily="18" charset="0"/>
              </a:rPr>
              <a:t>f</a:t>
            </a:r>
            <a:r>
              <a:rPr lang="en-IN" b="1" spc="-20" dirty="0">
                <a:solidFill>
                  <a:schemeClr val="bg1"/>
                </a:solidFill>
                <a:latin typeface="Times New Roman" panose="02020603050405020304" pitchFamily="18" charset="0"/>
                <a:cs typeface="Times New Roman" panose="02020603050405020304" pitchFamily="18" charset="0"/>
              </a:rPr>
              <a:t>  </a:t>
            </a:r>
            <a:r>
              <a:rPr lang="en-IN" b="1" spc="-45" dirty="0">
                <a:solidFill>
                  <a:schemeClr val="bg1"/>
                </a:solidFill>
                <a:latin typeface="Times New Roman" panose="02020603050405020304" pitchFamily="18" charset="0"/>
                <a:cs typeface="Times New Roman" panose="02020603050405020304" pitchFamily="18" charset="0"/>
              </a:rPr>
              <a:t>CSE, </a:t>
            </a:r>
            <a:r>
              <a:rPr lang="en-IN" b="1" spc="-5" dirty="0">
                <a:solidFill>
                  <a:schemeClr val="bg1"/>
                </a:solidFill>
                <a:latin typeface="Times New Roman" panose="02020603050405020304" pitchFamily="18" charset="0"/>
                <a:cs typeface="Times New Roman" panose="02020603050405020304" pitchFamily="18" charset="0"/>
              </a:rPr>
              <a:t>S</a:t>
            </a:r>
            <a:r>
              <a:rPr lang="en-IN" b="1" spc="30" dirty="0">
                <a:solidFill>
                  <a:schemeClr val="bg1"/>
                </a:solidFill>
                <a:latin typeface="Times New Roman" panose="02020603050405020304" pitchFamily="18" charset="0"/>
                <a:cs typeface="Times New Roman" panose="02020603050405020304" pitchFamily="18" charset="0"/>
              </a:rPr>
              <a:t>V</a:t>
            </a:r>
            <a:r>
              <a:rPr lang="en-IN" b="1" spc="-5" dirty="0">
                <a:solidFill>
                  <a:schemeClr val="bg1"/>
                </a:solidFill>
                <a:latin typeface="Times New Roman" panose="02020603050405020304" pitchFamily="18" charset="0"/>
                <a:cs typeface="Times New Roman" panose="02020603050405020304" pitchFamily="18" charset="0"/>
              </a:rPr>
              <a:t>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85BA4-0374-A03D-79AA-443DEBD86B4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099AD25-829A-16B6-DAA9-7039075219EA}"/>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D8796179-4D8E-8578-3B2F-1ABCF4EDA873}"/>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4" name="object 11">
            <a:extLst>
              <a:ext uri="{FF2B5EF4-FFF2-40B4-BE49-F238E27FC236}">
                <a16:creationId xmlns:a16="http://schemas.microsoft.com/office/drawing/2014/main" id="{548F0B73-8673-643E-C9C9-F32757869AFC}"/>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sp>
        <p:nvSpPr>
          <p:cNvPr id="5" name="Text Placeholder 2">
            <a:extLst>
              <a:ext uri="{FF2B5EF4-FFF2-40B4-BE49-F238E27FC236}">
                <a16:creationId xmlns:a16="http://schemas.microsoft.com/office/drawing/2014/main" id="{F8716CA0-ABCA-0F65-17A3-99E6103C241A}"/>
              </a:ext>
            </a:extLst>
          </p:cNvPr>
          <p:cNvSpPr>
            <a:spLocks noGrp="1"/>
          </p:cNvSpPr>
          <p:nvPr>
            <p:ph type="body" idx="1"/>
          </p:nvPr>
        </p:nvSpPr>
        <p:spPr>
          <a:xfrm>
            <a:off x="266700" y="1295400"/>
            <a:ext cx="11658600" cy="2714654"/>
          </a:xfrm>
        </p:spPr>
        <p:txBody>
          <a:bodyPr/>
          <a:lstStyle/>
          <a:p>
            <a:pPr algn="just">
              <a:lnSpc>
                <a:spcPct val="150000"/>
              </a:lnSpc>
            </a:pPr>
            <a:r>
              <a:rPr lang="en-US" sz="2000" dirty="0">
                <a:latin typeface="Times New Roman" panose="02020603050405020304" pitchFamily="18" charset="0"/>
                <a:cs typeface="Times New Roman" panose="02020603050405020304" pitchFamily="18" charset="0"/>
              </a:rPr>
              <a:t>The project introduces an advanced Intrusion Detection System for cloud security, where sensitive data and applications are at constant risk from cyber-attacks. By combining Conv1D and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deep learning models, the system learns both spatial and temporal patterns in network traffic, enabling accurate detection of malicious activities. To overcome the lack of transparency in traditional IDS, Explainable AI (SHAP) is integrated, ensuring that predictions are supported by clear reasoning and feature importance. The approach enhances detection performance, improves interpretability, and ensures scalability for real-world cloud deployment.</a:t>
            </a:r>
            <a:endParaRPr lang="en-IN" sz="2000" dirty="0">
              <a:latin typeface="Times New Roman" panose="02020603050405020304" pitchFamily="18" charset="0"/>
              <a:cs typeface="Times New Roman" panose="02020603050405020304" pitchFamily="18" charset="0"/>
            </a:endParaRPr>
          </a:p>
        </p:txBody>
      </p:sp>
      <p:pic>
        <p:nvPicPr>
          <p:cNvPr id="6" name="object 9">
            <a:extLst>
              <a:ext uri="{FF2B5EF4-FFF2-40B4-BE49-F238E27FC236}">
                <a16:creationId xmlns:a16="http://schemas.microsoft.com/office/drawing/2014/main" id="{1DF56411-DF3E-A386-E7E9-77F1190BA8B0}"/>
              </a:ext>
            </a:extLst>
          </p:cNvPr>
          <p:cNvPicPr/>
          <p:nvPr/>
        </p:nvPicPr>
        <p:blipFill>
          <a:blip r:embed="rId2" cstate="print"/>
          <a:stretch>
            <a:fillRect/>
          </a:stretch>
        </p:blipFill>
        <p:spPr>
          <a:xfrm>
            <a:off x="11115675" y="9525"/>
            <a:ext cx="1076325" cy="1076325"/>
          </a:xfrm>
          <a:prstGeom prst="rect">
            <a:avLst/>
          </a:prstGeom>
        </p:spPr>
      </p:pic>
      <p:sp>
        <p:nvSpPr>
          <p:cNvPr id="7" name="object 5">
            <a:extLst>
              <a:ext uri="{FF2B5EF4-FFF2-40B4-BE49-F238E27FC236}">
                <a16:creationId xmlns:a16="http://schemas.microsoft.com/office/drawing/2014/main" id="{77AFCABB-40E2-14ED-190D-176E73E9C4E6}"/>
              </a:ext>
            </a:extLst>
          </p:cNvPr>
          <p:cNvSpPr/>
          <p:nvPr/>
        </p:nvSpPr>
        <p:spPr>
          <a:xfrm>
            <a:off x="-12771" y="0"/>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7" name="TextBox 16">
            <a:extLst>
              <a:ext uri="{FF2B5EF4-FFF2-40B4-BE49-F238E27FC236}">
                <a16:creationId xmlns:a16="http://schemas.microsoft.com/office/drawing/2014/main" id="{FAA9C58F-C6B0-7F4D-5381-0A20AA4B63B1}"/>
              </a:ext>
            </a:extLst>
          </p:cNvPr>
          <p:cNvSpPr txBox="1"/>
          <p:nvPr/>
        </p:nvSpPr>
        <p:spPr>
          <a:xfrm>
            <a:off x="76200" y="152400"/>
            <a:ext cx="7058710"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OVERVIEW</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12" name="Slide Number Placeholder 11">
            <a:extLst>
              <a:ext uri="{FF2B5EF4-FFF2-40B4-BE49-F238E27FC236}">
                <a16:creationId xmlns:a16="http://schemas.microsoft.com/office/drawing/2014/main" id="{3FFAC4F8-14BA-F867-5346-F4C73525CD7A}"/>
              </a:ext>
            </a:extLst>
          </p:cNvPr>
          <p:cNvSpPr>
            <a:spLocks noGrp="1"/>
          </p:cNvSpPr>
          <p:nvPr>
            <p:ph type="sldNum" sz="quarter" idx="7"/>
          </p:nvPr>
        </p:nvSpPr>
        <p:spPr>
          <a:xfrm>
            <a:off x="9134203" y="6533508"/>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3</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4" name="Footer Placeholder 11">
            <a:extLst>
              <a:ext uri="{FF2B5EF4-FFF2-40B4-BE49-F238E27FC236}">
                <a16:creationId xmlns:a16="http://schemas.microsoft.com/office/drawing/2014/main" id="{24738681-2898-F044-64AE-66A5D3D62089}"/>
              </a:ext>
            </a:extLst>
          </p:cNvPr>
          <p:cNvSpPr>
            <a:spLocks noGrp="1"/>
          </p:cNvSpPr>
          <p:nvPr>
            <p:ph type="ftr" sz="quarter" idx="5"/>
          </p:nvPr>
        </p:nvSpPr>
        <p:spPr>
          <a:xfrm>
            <a:off x="78738" y="6547528"/>
            <a:ext cx="1978661" cy="269304"/>
          </a:xfrm>
        </p:spPr>
        <p:txBody>
          <a:bodyPr/>
          <a:lstStyle/>
          <a:p>
            <a:pPr marL="12700">
              <a:lnSpc>
                <a:spcPts val="2135"/>
              </a:lnSpc>
            </a:pPr>
            <a:r>
              <a:rPr lang="en-IN" b="1" spc="65" dirty="0">
                <a:solidFill>
                  <a:schemeClr val="bg1"/>
                </a:solidFill>
                <a:latin typeface="Times New Roman" panose="02020603050405020304" pitchFamily="18" charset="0"/>
                <a:cs typeface="Times New Roman" panose="02020603050405020304" pitchFamily="18" charset="0"/>
              </a:rPr>
              <a:t>D</a:t>
            </a:r>
            <a:r>
              <a:rPr lang="en-IN" b="1" spc="95" dirty="0">
                <a:solidFill>
                  <a:schemeClr val="bg1"/>
                </a:solidFill>
                <a:latin typeface="Times New Roman" panose="02020603050405020304" pitchFamily="18" charset="0"/>
                <a:cs typeface="Times New Roman" panose="02020603050405020304" pitchFamily="18" charset="0"/>
              </a:rPr>
              <a:t>e</a:t>
            </a:r>
            <a:r>
              <a:rPr lang="en-IN" b="1" spc="-165" dirty="0">
                <a:solidFill>
                  <a:schemeClr val="bg1"/>
                </a:solidFill>
                <a:latin typeface="Times New Roman" panose="02020603050405020304" pitchFamily="18" charset="0"/>
                <a:cs typeface="Times New Roman" panose="02020603050405020304" pitchFamily="18" charset="0"/>
              </a:rPr>
              <a:t>pt.</a:t>
            </a:r>
            <a:r>
              <a:rPr lang="en-IN" b="1" spc="-265"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o</a:t>
            </a:r>
            <a:r>
              <a:rPr lang="en-IN" b="1" spc="-215" dirty="0">
                <a:solidFill>
                  <a:schemeClr val="bg1"/>
                </a:solidFill>
                <a:latin typeface="Times New Roman" panose="02020603050405020304" pitchFamily="18" charset="0"/>
                <a:cs typeface="Times New Roman" panose="02020603050405020304" pitchFamily="18" charset="0"/>
              </a:rPr>
              <a:t>f</a:t>
            </a:r>
            <a:r>
              <a:rPr lang="en-IN" b="1" spc="-20" dirty="0">
                <a:solidFill>
                  <a:schemeClr val="bg1"/>
                </a:solidFill>
                <a:latin typeface="Times New Roman" panose="02020603050405020304" pitchFamily="18" charset="0"/>
                <a:cs typeface="Times New Roman" panose="02020603050405020304" pitchFamily="18" charset="0"/>
              </a:rPr>
              <a:t>  </a:t>
            </a:r>
            <a:r>
              <a:rPr lang="en-IN" b="1" spc="-45" dirty="0">
                <a:solidFill>
                  <a:schemeClr val="bg1"/>
                </a:solidFill>
                <a:latin typeface="Times New Roman" panose="02020603050405020304" pitchFamily="18" charset="0"/>
                <a:cs typeface="Times New Roman" panose="02020603050405020304" pitchFamily="18" charset="0"/>
              </a:rPr>
              <a:t>CSE,</a:t>
            </a:r>
            <a:r>
              <a:rPr lang="en-IN" b="1" spc="-190"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S</a:t>
            </a:r>
            <a:r>
              <a:rPr lang="en-IN" b="1" spc="30" dirty="0">
                <a:solidFill>
                  <a:schemeClr val="bg1"/>
                </a:solidFill>
                <a:latin typeface="Times New Roman" panose="02020603050405020304" pitchFamily="18" charset="0"/>
                <a:cs typeface="Times New Roman" panose="02020603050405020304" pitchFamily="18" charset="0"/>
              </a:rPr>
              <a:t>V</a:t>
            </a:r>
            <a:r>
              <a:rPr lang="en-IN" b="1" spc="-5" dirty="0">
                <a:solidFill>
                  <a:schemeClr val="bg1"/>
                </a:solidFill>
                <a:latin typeface="Times New Roman" panose="02020603050405020304" pitchFamily="18" charset="0"/>
                <a:cs typeface="Times New Roman" panose="02020603050405020304" pitchFamily="18" charset="0"/>
              </a:rPr>
              <a:t>IT</a:t>
            </a:r>
          </a:p>
        </p:txBody>
      </p:sp>
    </p:spTree>
    <p:extLst>
      <p:ext uri="{BB962C8B-B14F-4D97-AF65-F5344CB8AC3E}">
        <p14:creationId xmlns:p14="http://schemas.microsoft.com/office/powerpoint/2010/main" val="4095457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DE0A2-9CA6-9091-7F55-2C16CDCB7AB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3B2512F-349E-7F46-C083-0731FBE78D1F}"/>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2DAEE79E-5773-DD4C-25C8-72CF941E7D4E}"/>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4" name="Text Placeholder 2">
            <a:extLst>
              <a:ext uri="{FF2B5EF4-FFF2-40B4-BE49-F238E27FC236}">
                <a16:creationId xmlns:a16="http://schemas.microsoft.com/office/drawing/2014/main" id="{9F8A292C-AF03-D99E-ADCA-692AAD290F44}"/>
              </a:ext>
            </a:extLst>
          </p:cNvPr>
          <p:cNvSpPr>
            <a:spLocks noGrp="1"/>
          </p:cNvSpPr>
          <p:nvPr>
            <p:ph type="body" idx="1"/>
          </p:nvPr>
        </p:nvSpPr>
        <p:spPr>
          <a:xfrm>
            <a:off x="304800" y="1246188"/>
            <a:ext cx="11506200" cy="3978821"/>
          </a:xfrm>
        </p:spPr>
        <p:txBody>
          <a:bodyPr/>
          <a:lstStyle/>
          <a:p>
            <a:pPr algn="just">
              <a:lnSpc>
                <a:spcPct val="150000"/>
              </a:lnSpc>
            </a:pPr>
            <a:r>
              <a:rPr lang="en-US" sz="2000" dirty="0">
                <a:latin typeface="Times New Roman" panose="02020603050405020304" pitchFamily="18" charset="0"/>
                <a:cs typeface="Times New Roman" panose="02020603050405020304" pitchFamily="18" charset="0"/>
              </a:rPr>
              <a:t>The proposed system is built around a hybrid deep learning model combining Conv1D and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layers, which enables the effective learning of both spatial and temporal patterns in network traffic data. Before feeding data into the model, a robust preprocessing pipeline cleans and prepares the raw network traffic, ensuring high-quality input for accurate predictions. To make the system’s decisions interpretable, Explainable AI techniques, specifically SHAP, are integrated to highlight the most important features contributing to each detection. The overall design is scalable, allowing seamless deployment in cloud environments to provide real-time intrusion detection with reliable and explainable results.</a:t>
            </a:r>
          </a:p>
        </p:txBody>
      </p:sp>
      <p:pic>
        <p:nvPicPr>
          <p:cNvPr id="5" name="object 9">
            <a:extLst>
              <a:ext uri="{FF2B5EF4-FFF2-40B4-BE49-F238E27FC236}">
                <a16:creationId xmlns:a16="http://schemas.microsoft.com/office/drawing/2014/main" id="{810DEF44-E7EF-5E9E-FFAC-405FF12B0CA0}"/>
              </a:ext>
            </a:extLst>
          </p:cNvPr>
          <p:cNvPicPr/>
          <p:nvPr/>
        </p:nvPicPr>
        <p:blipFill>
          <a:blip r:embed="rId2" cstate="print"/>
          <a:stretch>
            <a:fillRect/>
          </a:stretch>
        </p:blipFill>
        <p:spPr>
          <a:xfrm>
            <a:off x="11115675" y="9525"/>
            <a:ext cx="1076325" cy="1076325"/>
          </a:xfrm>
          <a:prstGeom prst="rect">
            <a:avLst/>
          </a:prstGeom>
        </p:spPr>
      </p:pic>
      <p:sp>
        <p:nvSpPr>
          <p:cNvPr id="6" name="object 5">
            <a:extLst>
              <a:ext uri="{FF2B5EF4-FFF2-40B4-BE49-F238E27FC236}">
                <a16:creationId xmlns:a16="http://schemas.microsoft.com/office/drawing/2014/main" id="{4F838836-051F-2484-2E27-2931A9BADD42}"/>
              </a:ext>
            </a:extLst>
          </p:cNvPr>
          <p:cNvSpPr/>
          <p:nvPr/>
        </p:nvSpPr>
        <p:spPr>
          <a:xfrm>
            <a:off x="-37011" y="0"/>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7" name="object 11">
            <a:extLst>
              <a:ext uri="{FF2B5EF4-FFF2-40B4-BE49-F238E27FC236}">
                <a16:creationId xmlns:a16="http://schemas.microsoft.com/office/drawing/2014/main" id="{7BB192D1-B546-BE9A-1709-7ADD9F249899}"/>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sp>
        <p:nvSpPr>
          <p:cNvPr id="21" name="TextBox 20">
            <a:extLst>
              <a:ext uri="{FF2B5EF4-FFF2-40B4-BE49-F238E27FC236}">
                <a16:creationId xmlns:a16="http://schemas.microsoft.com/office/drawing/2014/main" id="{5C5372A3-092F-7120-0149-329956FDAF72}"/>
              </a:ext>
            </a:extLst>
          </p:cNvPr>
          <p:cNvSpPr txBox="1"/>
          <p:nvPr/>
        </p:nvSpPr>
        <p:spPr>
          <a:xfrm>
            <a:off x="79850" y="122007"/>
            <a:ext cx="7058710"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PROPOSED SYSTEM</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11" name="Slide Number Placeholder 10">
            <a:extLst>
              <a:ext uri="{FF2B5EF4-FFF2-40B4-BE49-F238E27FC236}">
                <a16:creationId xmlns:a16="http://schemas.microsoft.com/office/drawing/2014/main" id="{B322E745-1DA3-A0A9-8CD8-6F8A1941A0E8}"/>
              </a:ext>
            </a:extLst>
          </p:cNvPr>
          <p:cNvSpPr>
            <a:spLocks noGrp="1"/>
          </p:cNvSpPr>
          <p:nvPr>
            <p:ph type="sldNum" sz="quarter" idx="7"/>
          </p:nvPr>
        </p:nvSpPr>
        <p:spPr>
          <a:xfrm>
            <a:off x="9039497" y="6534150"/>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4</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2" name="Footer Placeholder 11">
            <a:extLst>
              <a:ext uri="{FF2B5EF4-FFF2-40B4-BE49-F238E27FC236}">
                <a16:creationId xmlns:a16="http://schemas.microsoft.com/office/drawing/2014/main" id="{CA3D283E-B630-3C6B-305A-E2569A7A0642}"/>
              </a:ext>
            </a:extLst>
          </p:cNvPr>
          <p:cNvSpPr>
            <a:spLocks noGrp="1"/>
          </p:cNvSpPr>
          <p:nvPr>
            <p:ph type="ftr" sz="quarter" idx="5"/>
          </p:nvPr>
        </p:nvSpPr>
        <p:spPr>
          <a:xfrm>
            <a:off x="78738" y="6547528"/>
            <a:ext cx="1978661" cy="269304"/>
          </a:xfrm>
        </p:spPr>
        <p:txBody>
          <a:bodyPr/>
          <a:lstStyle/>
          <a:p>
            <a:pPr marL="12700">
              <a:lnSpc>
                <a:spcPts val="2135"/>
              </a:lnSpc>
            </a:pPr>
            <a:r>
              <a:rPr lang="en-IN" b="1" spc="65" dirty="0">
                <a:solidFill>
                  <a:schemeClr val="bg1"/>
                </a:solidFill>
                <a:latin typeface="Times New Roman" panose="02020603050405020304" pitchFamily="18" charset="0"/>
                <a:cs typeface="Times New Roman" panose="02020603050405020304" pitchFamily="18" charset="0"/>
              </a:rPr>
              <a:t>D</a:t>
            </a:r>
            <a:r>
              <a:rPr lang="en-IN" b="1" spc="95" dirty="0">
                <a:solidFill>
                  <a:schemeClr val="bg1"/>
                </a:solidFill>
                <a:latin typeface="Times New Roman" panose="02020603050405020304" pitchFamily="18" charset="0"/>
                <a:cs typeface="Times New Roman" panose="02020603050405020304" pitchFamily="18" charset="0"/>
              </a:rPr>
              <a:t>e</a:t>
            </a:r>
            <a:r>
              <a:rPr lang="en-IN" b="1" spc="-165" dirty="0">
                <a:solidFill>
                  <a:schemeClr val="bg1"/>
                </a:solidFill>
                <a:latin typeface="Times New Roman" panose="02020603050405020304" pitchFamily="18" charset="0"/>
                <a:cs typeface="Times New Roman" panose="02020603050405020304" pitchFamily="18" charset="0"/>
              </a:rPr>
              <a:t>pt.</a:t>
            </a:r>
            <a:r>
              <a:rPr lang="en-IN" b="1" spc="-265"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o</a:t>
            </a:r>
            <a:r>
              <a:rPr lang="en-IN" b="1" spc="-215" dirty="0">
                <a:solidFill>
                  <a:schemeClr val="bg1"/>
                </a:solidFill>
                <a:latin typeface="Times New Roman" panose="02020603050405020304" pitchFamily="18" charset="0"/>
                <a:cs typeface="Times New Roman" panose="02020603050405020304" pitchFamily="18" charset="0"/>
              </a:rPr>
              <a:t>f</a:t>
            </a:r>
            <a:r>
              <a:rPr lang="en-IN" b="1" spc="-20" dirty="0">
                <a:solidFill>
                  <a:schemeClr val="bg1"/>
                </a:solidFill>
                <a:latin typeface="Times New Roman" panose="02020603050405020304" pitchFamily="18" charset="0"/>
                <a:cs typeface="Times New Roman" panose="02020603050405020304" pitchFamily="18" charset="0"/>
              </a:rPr>
              <a:t>  </a:t>
            </a:r>
            <a:r>
              <a:rPr lang="en-IN" b="1" spc="-45" dirty="0">
                <a:solidFill>
                  <a:schemeClr val="bg1"/>
                </a:solidFill>
                <a:latin typeface="Times New Roman" panose="02020603050405020304" pitchFamily="18" charset="0"/>
                <a:cs typeface="Times New Roman" panose="02020603050405020304" pitchFamily="18" charset="0"/>
              </a:rPr>
              <a:t>CSE,</a:t>
            </a:r>
            <a:r>
              <a:rPr lang="en-IN" b="1" spc="-190"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S</a:t>
            </a:r>
            <a:r>
              <a:rPr lang="en-IN" b="1" spc="30" dirty="0">
                <a:solidFill>
                  <a:schemeClr val="bg1"/>
                </a:solidFill>
                <a:latin typeface="Times New Roman" panose="02020603050405020304" pitchFamily="18" charset="0"/>
                <a:cs typeface="Times New Roman" panose="02020603050405020304" pitchFamily="18" charset="0"/>
              </a:rPr>
              <a:t>V</a:t>
            </a:r>
            <a:r>
              <a:rPr lang="en-IN" b="1" spc="-5" dirty="0">
                <a:solidFill>
                  <a:schemeClr val="bg1"/>
                </a:solidFill>
                <a:latin typeface="Times New Roman" panose="02020603050405020304" pitchFamily="18" charset="0"/>
                <a:cs typeface="Times New Roman" panose="02020603050405020304" pitchFamily="18" charset="0"/>
              </a:rPr>
              <a:t>IT</a:t>
            </a:r>
          </a:p>
        </p:txBody>
      </p:sp>
    </p:spTree>
    <p:extLst>
      <p:ext uri="{BB962C8B-B14F-4D97-AF65-F5344CB8AC3E}">
        <p14:creationId xmlns:p14="http://schemas.microsoft.com/office/powerpoint/2010/main" val="3824040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C1A9A-9832-5E33-CBAB-4081DB9A196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7B34226-9322-F33A-A5C9-1386453C1DF0}"/>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AF420D4E-AE46-F0B9-ED3F-A6244915EB2D}"/>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4" name="Text Placeholder 2">
            <a:extLst>
              <a:ext uri="{FF2B5EF4-FFF2-40B4-BE49-F238E27FC236}">
                <a16:creationId xmlns:a16="http://schemas.microsoft.com/office/drawing/2014/main" id="{1591CBFA-55D8-505A-01E1-743E732264F9}"/>
              </a:ext>
            </a:extLst>
          </p:cNvPr>
          <p:cNvSpPr>
            <a:spLocks noGrp="1"/>
          </p:cNvSpPr>
          <p:nvPr>
            <p:ph type="body" idx="1"/>
          </p:nvPr>
        </p:nvSpPr>
        <p:spPr>
          <a:xfrm>
            <a:off x="381000" y="1371600"/>
            <a:ext cx="11277600" cy="2252989"/>
          </a:xfrm>
        </p:spPr>
        <p:txBody>
          <a:bodyPr/>
          <a:lstStyle/>
          <a:p>
            <a:pPr algn="just">
              <a:lnSpc>
                <a:spcPct val="150000"/>
              </a:lnSpc>
            </a:pPr>
            <a:r>
              <a:rPr lang="en-US" sz="2000" dirty="0">
                <a:latin typeface="Times New Roman" panose="02020603050405020304" pitchFamily="18" charset="0"/>
                <a:cs typeface="Times New Roman" panose="02020603050405020304" pitchFamily="18" charset="0"/>
              </a:rPr>
              <a:t>Existing cloud security systems struggle to effectively detect increasingly sophisticated cyber threats, largely due to the lack of transparency and interpretability in traditional ML-based intrusion detection systems. To address this challenge, develop an explainable AI-driven intrusion detection system for cloud security, leveraging a hybrid LSTM-based deep learning approach that not only accurately identifies potential threats but also provides clear explanations for its detection decisions.</a:t>
            </a:r>
          </a:p>
        </p:txBody>
      </p:sp>
      <p:pic>
        <p:nvPicPr>
          <p:cNvPr id="5" name="object 9">
            <a:extLst>
              <a:ext uri="{FF2B5EF4-FFF2-40B4-BE49-F238E27FC236}">
                <a16:creationId xmlns:a16="http://schemas.microsoft.com/office/drawing/2014/main" id="{0C8F5B7F-7BF1-BB23-89A2-5584BA6EA2F5}"/>
              </a:ext>
            </a:extLst>
          </p:cNvPr>
          <p:cNvPicPr/>
          <p:nvPr/>
        </p:nvPicPr>
        <p:blipFill>
          <a:blip r:embed="rId2" cstate="print"/>
          <a:stretch>
            <a:fillRect/>
          </a:stretch>
        </p:blipFill>
        <p:spPr>
          <a:xfrm>
            <a:off x="11115675" y="9525"/>
            <a:ext cx="1076325" cy="1076325"/>
          </a:xfrm>
          <a:prstGeom prst="rect">
            <a:avLst/>
          </a:prstGeom>
        </p:spPr>
      </p:pic>
      <p:sp>
        <p:nvSpPr>
          <p:cNvPr id="6" name="object 5">
            <a:extLst>
              <a:ext uri="{FF2B5EF4-FFF2-40B4-BE49-F238E27FC236}">
                <a16:creationId xmlns:a16="http://schemas.microsoft.com/office/drawing/2014/main" id="{6480FA8F-9ADB-1BEA-C15C-2C53E5E1469E}"/>
              </a:ext>
            </a:extLst>
          </p:cNvPr>
          <p:cNvSpPr/>
          <p:nvPr/>
        </p:nvSpPr>
        <p:spPr>
          <a:xfrm>
            <a:off x="-37011" y="0"/>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7" name="TextBox 6">
            <a:extLst>
              <a:ext uri="{FF2B5EF4-FFF2-40B4-BE49-F238E27FC236}">
                <a16:creationId xmlns:a16="http://schemas.microsoft.com/office/drawing/2014/main" id="{393CC617-D750-7CBB-7DE1-7184838C7867}"/>
              </a:ext>
            </a:extLst>
          </p:cNvPr>
          <p:cNvSpPr txBox="1"/>
          <p:nvPr/>
        </p:nvSpPr>
        <p:spPr>
          <a:xfrm>
            <a:off x="79850" y="122007"/>
            <a:ext cx="7058710"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PROBLEM STATEMENT</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17" name="object 11">
            <a:extLst>
              <a:ext uri="{FF2B5EF4-FFF2-40B4-BE49-F238E27FC236}">
                <a16:creationId xmlns:a16="http://schemas.microsoft.com/office/drawing/2014/main" id="{0032CBA9-99E5-3E5B-91A6-C1BCF034175A}"/>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7E10B65E-DDF1-2B53-B65E-BD33C95E5680}"/>
              </a:ext>
            </a:extLst>
          </p:cNvPr>
          <p:cNvSpPr>
            <a:spLocks noGrp="1"/>
          </p:cNvSpPr>
          <p:nvPr>
            <p:ph type="sldNum" sz="quarter" idx="7"/>
          </p:nvPr>
        </p:nvSpPr>
        <p:spPr>
          <a:xfrm>
            <a:off x="9067800" y="653133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5</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2" name="Footer Placeholder 11">
            <a:extLst>
              <a:ext uri="{FF2B5EF4-FFF2-40B4-BE49-F238E27FC236}">
                <a16:creationId xmlns:a16="http://schemas.microsoft.com/office/drawing/2014/main" id="{4A427337-72B6-6C19-31BE-D24103AF8A61}"/>
              </a:ext>
            </a:extLst>
          </p:cNvPr>
          <p:cNvSpPr>
            <a:spLocks noGrp="1"/>
          </p:cNvSpPr>
          <p:nvPr>
            <p:ph type="ftr" sz="quarter" idx="5"/>
          </p:nvPr>
        </p:nvSpPr>
        <p:spPr>
          <a:xfrm>
            <a:off x="78738" y="6547528"/>
            <a:ext cx="1978661" cy="269304"/>
          </a:xfrm>
        </p:spPr>
        <p:txBody>
          <a:bodyPr/>
          <a:lstStyle/>
          <a:p>
            <a:pPr marL="12700">
              <a:lnSpc>
                <a:spcPts val="2135"/>
              </a:lnSpc>
            </a:pPr>
            <a:r>
              <a:rPr lang="en-IN" b="1" spc="65" dirty="0">
                <a:solidFill>
                  <a:schemeClr val="bg1"/>
                </a:solidFill>
                <a:latin typeface="Times New Roman" panose="02020603050405020304" pitchFamily="18" charset="0"/>
                <a:cs typeface="Times New Roman" panose="02020603050405020304" pitchFamily="18" charset="0"/>
              </a:rPr>
              <a:t>D</a:t>
            </a:r>
            <a:r>
              <a:rPr lang="en-IN" b="1" spc="95" dirty="0">
                <a:solidFill>
                  <a:schemeClr val="bg1"/>
                </a:solidFill>
                <a:latin typeface="Times New Roman" panose="02020603050405020304" pitchFamily="18" charset="0"/>
                <a:cs typeface="Times New Roman" panose="02020603050405020304" pitchFamily="18" charset="0"/>
              </a:rPr>
              <a:t>e</a:t>
            </a:r>
            <a:r>
              <a:rPr lang="en-IN" b="1" spc="-165" dirty="0">
                <a:solidFill>
                  <a:schemeClr val="bg1"/>
                </a:solidFill>
                <a:latin typeface="Times New Roman" panose="02020603050405020304" pitchFamily="18" charset="0"/>
                <a:cs typeface="Times New Roman" panose="02020603050405020304" pitchFamily="18" charset="0"/>
              </a:rPr>
              <a:t>pt.</a:t>
            </a:r>
            <a:r>
              <a:rPr lang="en-IN" b="1" spc="-265"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o</a:t>
            </a:r>
            <a:r>
              <a:rPr lang="en-IN" b="1" spc="-215" dirty="0">
                <a:solidFill>
                  <a:schemeClr val="bg1"/>
                </a:solidFill>
                <a:latin typeface="Times New Roman" panose="02020603050405020304" pitchFamily="18" charset="0"/>
                <a:cs typeface="Times New Roman" panose="02020603050405020304" pitchFamily="18" charset="0"/>
              </a:rPr>
              <a:t>f</a:t>
            </a:r>
            <a:r>
              <a:rPr lang="en-IN" b="1" spc="-20" dirty="0">
                <a:solidFill>
                  <a:schemeClr val="bg1"/>
                </a:solidFill>
                <a:latin typeface="Times New Roman" panose="02020603050405020304" pitchFamily="18" charset="0"/>
                <a:cs typeface="Times New Roman" panose="02020603050405020304" pitchFamily="18" charset="0"/>
              </a:rPr>
              <a:t>  </a:t>
            </a:r>
            <a:r>
              <a:rPr lang="en-IN" b="1" spc="-45" dirty="0">
                <a:solidFill>
                  <a:schemeClr val="bg1"/>
                </a:solidFill>
                <a:latin typeface="Times New Roman" panose="02020603050405020304" pitchFamily="18" charset="0"/>
                <a:cs typeface="Times New Roman" panose="02020603050405020304" pitchFamily="18" charset="0"/>
              </a:rPr>
              <a:t>CSE,</a:t>
            </a:r>
            <a:r>
              <a:rPr lang="en-IN" b="1" spc="-190"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S</a:t>
            </a:r>
            <a:r>
              <a:rPr lang="en-IN" b="1" spc="30" dirty="0">
                <a:solidFill>
                  <a:schemeClr val="bg1"/>
                </a:solidFill>
                <a:latin typeface="Times New Roman" panose="02020603050405020304" pitchFamily="18" charset="0"/>
                <a:cs typeface="Times New Roman" panose="02020603050405020304" pitchFamily="18" charset="0"/>
              </a:rPr>
              <a:t>V</a:t>
            </a:r>
            <a:r>
              <a:rPr lang="en-IN" b="1" spc="-5" dirty="0">
                <a:solidFill>
                  <a:schemeClr val="bg1"/>
                </a:solidFill>
                <a:latin typeface="Times New Roman" panose="02020603050405020304" pitchFamily="18" charset="0"/>
                <a:cs typeface="Times New Roman" panose="02020603050405020304" pitchFamily="18" charset="0"/>
              </a:rPr>
              <a:t>IT</a:t>
            </a:r>
          </a:p>
        </p:txBody>
      </p:sp>
    </p:spTree>
    <p:extLst>
      <p:ext uri="{BB962C8B-B14F-4D97-AF65-F5344CB8AC3E}">
        <p14:creationId xmlns:p14="http://schemas.microsoft.com/office/powerpoint/2010/main" val="3756799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6898E-0EDD-6B6C-6007-8F18FA26A8E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3E55D27-C366-1981-CEEC-9DFC94138196}"/>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E731DF3F-B72A-B1B3-0FE3-A4FC5002C91E}"/>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4" name="Text Placeholder 2">
            <a:extLst>
              <a:ext uri="{FF2B5EF4-FFF2-40B4-BE49-F238E27FC236}">
                <a16:creationId xmlns:a16="http://schemas.microsoft.com/office/drawing/2014/main" id="{DB3F23B1-5496-8132-A9AC-FCF53DBADDC2}"/>
              </a:ext>
            </a:extLst>
          </p:cNvPr>
          <p:cNvSpPr>
            <a:spLocks noGrp="1"/>
          </p:cNvSpPr>
          <p:nvPr>
            <p:ph type="body" idx="1"/>
          </p:nvPr>
        </p:nvSpPr>
        <p:spPr>
          <a:xfrm>
            <a:off x="452437" y="1524000"/>
            <a:ext cx="11201400" cy="1791324"/>
          </a:xfrm>
        </p:spPr>
        <p:txBody>
          <a:bodyPr/>
          <a:lstStyle/>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Detect AI-driven cyber threats</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Enable real-time anomaly detection</a:t>
            </a:r>
          </a:p>
          <a:p>
            <a:pPr marL="342900" indent="-342900">
              <a:lnSpc>
                <a:spcPct val="150000"/>
              </a:lnSpc>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To Incorporate Explainable AI (XAI) techniques</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Enhancement in detection accuracy and Minimizing false positives</a:t>
            </a:r>
          </a:p>
        </p:txBody>
      </p:sp>
      <p:pic>
        <p:nvPicPr>
          <p:cNvPr id="5" name="object 9">
            <a:extLst>
              <a:ext uri="{FF2B5EF4-FFF2-40B4-BE49-F238E27FC236}">
                <a16:creationId xmlns:a16="http://schemas.microsoft.com/office/drawing/2014/main" id="{2DEE1646-98AD-4051-017C-565EAC26013E}"/>
              </a:ext>
            </a:extLst>
          </p:cNvPr>
          <p:cNvPicPr/>
          <p:nvPr/>
        </p:nvPicPr>
        <p:blipFill>
          <a:blip r:embed="rId2" cstate="print"/>
          <a:stretch>
            <a:fillRect/>
          </a:stretch>
        </p:blipFill>
        <p:spPr>
          <a:xfrm>
            <a:off x="11115675" y="9525"/>
            <a:ext cx="1076325" cy="1076325"/>
          </a:xfrm>
          <a:prstGeom prst="rect">
            <a:avLst/>
          </a:prstGeom>
        </p:spPr>
      </p:pic>
      <p:sp>
        <p:nvSpPr>
          <p:cNvPr id="6" name="object 5">
            <a:extLst>
              <a:ext uri="{FF2B5EF4-FFF2-40B4-BE49-F238E27FC236}">
                <a16:creationId xmlns:a16="http://schemas.microsoft.com/office/drawing/2014/main" id="{617C4D02-F422-3AFE-3096-883298496740}"/>
              </a:ext>
            </a:extLst>
          </p:cNvPr>
          <p:cNvSpPr/>
          <p:nvPr/>
        </p:nvSpPr>
        <p:spPr>
          <a:xfrm>
            <a:off x="0" y="-1056"/>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7" name="TextBox 6">
            <a:extLst>
              <a:ext uri="{FF2B5EF4-FFF2-40B4-BE49-F238E27FC236}">
                <a16:creationId xmlns:a16="http://schemas.microsoft.com/office/drawing/2014/main" id="{5C18A84F-32F9-88CE-8299-3F9BF8698AC7}"/>
              </a:ext>
            </a:extLst>
          </p:cNvPr>
          <p:cNvSpPr txBox="1"/>
          <p:nvPr/>
        </p:nvSpPr>
        <p:spPr>
          <a:xfrm>
            <a:off x="79850" y="122007"/>
            <a:ext cx="7058710"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OBJECTIVES</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17" name="object 11">
            <a:extLst>
              <a:ext uri="{FF2B5EF4-FFF2-40B4-BE49-F238E27FC236}">
                <a16:creationId xmlns:a16="http://schemas.microsoft.com/office/drawing/2014/main" id="{461ED1E3-4593-A3F2-CA12-7F9205CEB0CB}"/>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B6BD450C-3C79-FE43-4409-0AA4F84AD506}"/>
              </a:ext>
            </a:extLst>
          </p:cNvPr>
          <p:cNvSpPr>
            <a:spLocks noGrp="1"/>
          </p:cNvSpPr>
          <p:nvPr>
            <p:ph type="sldNum" sz="quarter" idx="7"/>
          </p:nvPr>
        </p:nvSpPr>
        <p:spPr>
          <a:xfrm>
            <a:off x="9067800" y="6583178"/>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6</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2" name="Footer Placeholder 11">
            <a:extLst>
              <a:ext uri="{FF2B5EF4-FFF2-40B4-BE49-F238E27FC236}">
                <a16:creationId xmlns:a16="http://schemas.microsoft.com/office/drawing/2014/main" id="{B4279CFD-14C5-2BA8-5DE4-A683721EC76A}"/>
              </a:ext>
            </a:extLst>
          </p:cNvPr>
          <p:cNvSpPr>
            <a:spLocks noGrp="1"/>
          </p:cNvSpPr>
          <p:nvPr>
            <p:ph type="ftr" sz="quarter" idx="5"/>
          </p:nvPr>
        </p:nvSpPr>
        <p:spPr>
          <a:xfrm>
            <a:off x="78738" y="6547528"/>
            <a:ext cx="1978661" cy="269304"/>
          </a:xfrm>
        </p:spPr>
        <p:txBody>
          <a:bodyPr/>
          <a:lstStyle/>
          <a:p>
            <a:pPr marL="12700">
              <a:lnSpc>
                <a:spcPts val="2135"/>
              </a:lnSpc>
            </a:pPr>
            <a:r>
              <a:rPr lang="en-IN" b="1" spc="65" dirty="0">
                <a:solidFill>
                  <a:schemeClr val="bg1"/>
                </a:solidFill>
                <a:latin typeface="Times New Roman" panose="02020603050405020304" pitchFamily="18" charset="0"/>
                <a:cs typeface="Times New Roman" panose="02020603050405020304" pitchFamily="18" charset="0"/>
              </a:rPr>
              <a:t>D</a:t>
            </a:r>
            <a:r>
              <a:rPr lang="en-IN" b="1" spc="95" dirty="0">
                <a:solidFill>
                  <a:schemeClr val="bg1"/>
                </a:solidFill>
                <a:latin typeface="Times New Roman" panose="02020603050405020304" pitchFamily="18" charset="0"/>
                <a:cs typeface="Times New Roman" panose="02020603050405020304" pitchFamily="18" charset="0"/>
              </a:rPr>
              <a:t>e</a:t>
            </a:r>
            <a:r>
              <a:rPr lang="en-IN" b="1" spc="-165" dirty="0">
                <a:solidFill>
                  <a:schemeClr val="bg1"/>
                </a:solidFill>
                <a:latin typeface="Times New Roman" panose="02020603050405020304" pitchFamily="18" charset="0"/>
                <a:cs typeface="Times New Roman" panose="02020603050405020304" pitchFamily="18" charset="0"/>
              </a:rPr>
              <a:t>pt.</a:t>
            </a:r>
            <a:r>
              <a:rPr lang="en-IN" b="1" spc="-265"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o</a:t>
            </a:r>
            <a:r>
              <a:rPr lang="en-IN" b="1" spc="-215" dirty="0">
                <a:solidFill>
                  <a:schemeClr val="bg1"/>
                </a:solidFill>
                <a:latin typeface="Times New Roman" panose="02020603050405020304" pitchFamily="18" charset="0"/>
                <a:cs typeface="Times New Roman" panose="02020603050405020304" pitchFamily="18" charset="0"/>
              </a:rPr>
              <a:t>f</a:t>
            </a:r>
            <a:r>
              <a:rPr lang="en-IN" b="1" spc="-20" dirty="0">
                <a:solidFill>
                  <a:schemeClr val="bg1"/>
                </a:solidFill>
                <a:latin typeface="Times New Roman" panose="02020603050405020304" pitchFamily="18" charset="0"/>
                <a:cs typeface="Times New Roman" panose="02020603050405020304" pitchFamily="18" charset="0"/>
              </a:rPr>
              <a:t>  </a:t>
            </a:r>
            <a:r>
              <a:rPr lang="en-IN" b="1" spc="-45" dirty="0">
                <a:solidFill>
                  <a:schemeClr val="bg1"/>
                </a:solidFill>
                <a:latin typeface="Times New Roman" panose="02020603050405020304" pitchFamily="18" charset="0"/>
                <a:cs typeface="Times New Roman" panose="02020603050405020304" pitchFamily="18" charset="0"/>
              </a:rPr>
              <a:t>CSE,</a:t>
            </a:r>
            <a:r>
              <a:rPr lang="en-IN" b="1" spc="-190"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S</a:t>
            </a:r>
            <a:r>
              <a:rPr lang="en-IN" b="1" spc="30" dirty="0">
                <a:solidFill>
                  <a:schemeClr val="bg1"/>
                </a:solidFill>
                <a:latin typeface="Times New Roman" panose="02020603050405020304" pitchFamily="18" charset="0"/>
                <a:cs typeface="Times New Roman" panose="02020603050405020304" pitchFamily="18" charset="0"/>
              </a:rPr>
              <a:t>V</a:t>
            </a:r>
            <a:r>
              <a:rPr lang="en-IN" b="1" spc="-5" dirty="0">
                <a:solidFill>
                  <a:schemeClr val="bg1"/>
                </a:solidFill>
                <a:latin typeface="Times New Roman" panose="02020603050405020304" pitchFamily="18" charset="0"/>
                <a:cs typeface="Times New Roman" panose="02020603050405020304" pitchFamily="18" charset="0"/>
              </a:rPr>
              <a:t>IT</a:t>
            </a:r>
          </a:p>
        </p:txBody>
      </p:sp>
    </p:spTree>
    <p:extLst>
      <p:ext uri="{BB962C8B-B14F-4D97-AF65-F5344CB8AC3E}">
        <p14:creationId xmlns:p14="http://schemas.microsoft.com/office/powerpoint/2010/main" val="1473155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EEFAC-ABDF-29DE-0267-64896EA2ABD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E9FBCEE-0750-5DF2-DC44-C21008D6BFB9}"/>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234D1BAB-E386-B303-5267-9E7340269CDD}"/>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pic>
        <p:nvPicPr>
          <p:cNvPr id="9" name="object 9">
            <a:extLst>
              <a:ext uri="{FF2B5EF4-FFF2-40B4-BE49-F238E27FC236}">
                <a16:creationId xmlns:a16="http://schemas.microsoft.com/office/drawing/2014/main" id="{8E069122-F36C-06F7-8334-049E8EBE6FA2}"/>
              </a:ext>
            </a:extLst>
          </p:cNvPr>
          <p:cNvPicPr/>
          <p:nvPr/>
        </p:nvPicPr>
        <p:blipFill>
          <a:blip r:embed="rId2" cstate="print"/>
          <a:stretch>
            <a:fillRect/>
          </a:stretch>
        </p:blipFill>
        <p:spPr>
          <a:xfrm>
            <a:off x="11115675" y="9526"/>
            <a:ext cx="1076325" cy="837144"/>
          </a:xfrm>
          <a:prstGeom prst="rect">
            <a:avLst/>
          </a:prstGeom>
        </p:spPr>
      </p:pic>
      <p:sp>
        <p:nvSpPr>
          <p:cNvPr id="11" name="object 11">
            <a:extLst>
              <a:ext uri="{FF2B5EF4-FFF2-40B4-BE49-F238E27FC236}">
                <a16:creationId xmlns:a16="http://schemas.microsoft.com/office/drawing/2014/main" id="{4FCFEE26-3D74-C712-5927-90299AF7C37D}"/>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pPr marL="12700">
              <a:lnSpc>
                <a:spcPts val="2135"/>
              </a:lnSpc>
            </a:pPr>
            <a:endParaRPr lang="en-IN" b="1" spc="-5" dirty="0">
              <a:solidFill>
                <a:schemeClr val="bg1"/>
              </a:solidFill>
            </a:endParaRPr>
          </a:p>
        </p:txBody>
      </p:sp>
      <p:pic>
        <p:nvPicPr>
          <p:cNvPr id="12" name="Picture 11">
            <a:extLst>
              <a:ext uri="{FF2B5EF4-FFF2-40B4-BE49-F238E27FC236}">
                <a16:creationId xmlns:a16="http://schemas.microsoft.com/office/drawing/2014/main" id="{0ECD58E3-B199-9D0C-6483-7474471672C7}"/>
              </a:ext>
            </a:extLst>
          </p:cNvPr>
          <p:cNvPicPr>
            <a:picLocks noChangeAspect="1"/>
          </p:cNvPicPr>
          <p:nvPr/>
        </p:nvPicPr>
        <p:blipFill>
          <a:blip r:embed="rId3"/>
          <a:stretch>
            <a:fillRect/>
          </a:stretch>
        </p:blipFill>
        <p:spPr>
          <a:xfrm>
            <a:off x="1820990" y="762001"/>
            <a:ext cx="8056435" cy="5333999"/>
          </a:xfrm>
          <a:prstGeom prst="rect">
            <a:avLst/>
          </a:prstGeom>
        </p:spPr>
      </p:pic>
      <p:sp>
        <p:nvSpPr>
          <p:cNvPr id="14" name="Rectangle 13">
            <a:extLst>
              <a:ext uri="{FF2B5EF4-FFF2-40B4-BE49-F238E27FC236}">
                <a16:creationId xmlns:a16="http://schemas.microsoft.com/office/drawing/2014/main" id="{616ABCFE-AFAB-C7ED-25C3-B76E60F5F3AB}"/>
              </a:ext>
            </a:extLst>
          </p:cNvPr>
          <p:cNvSpPr/>
          <p:nvPr/>
        </p:nvSpPr>
        <p:spPr>
          <a:xfrm>
            <a:off x="6577146" y="1219200"/>
            <a:ext cx="128454" cy="18908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bject 5">
            <a:extLst>
              <a:ext uri="{FF2B5EF4-FFF2-40B4-BE49-F238E27FC236}">
                <a16:creationId xmlns:a16="http://schemas.microsoft.com/office/drawing/2014/main" id="{1918D23D-24E5-0EA5-CBB0-D09243AA7E96}"/>
              </a:ext>
            </a:extLst>
          </p:cNvPr>
          <p:cNvSpPr/>
          <p:nvPr/>
        </p:nvSpPr>
        <p:spPr>
          <a:xfrm>
            <a:off x="0" y="-1055"/>
            <a:ext cx="9877425" cy="763056"/>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8" name="TextBox 17">
            <a:extLst>
              <a:ext uri="{FF2B5EF4-FFF2-40B4-BE49-F238E27FC236}">
                <a16:creationId xmlns:a16="http://schemas.microsoft.com/office/drawing/2014/main" id="{F0AAA16F-F760-B97B-8F20-DB08556BA973}"/>
              </a:ext>
            </a:extLst>
          </p:cNvPr>
          <p:cNvSpPr txBox="1"/>
          <p:nvPr/>
        </p:nvSpPr>
        <p:spPr>
          <a:xfrm>
            <a:off x="79850" y="122007"/>
            <a:ext cx="7058710"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DESIGN</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F7246138-E884-492E-BB38-45CDC720D4E4}"/>
              </a:ext>
            </a:extLst>
          </p:cNvPr>
          <p:cNvSpPr>
            <a:spLocks noGrp="1"/>
          </p:cNvSpPr>
          <p:nvPr>
            <p:ph type="sldNum" sz="quarter" idx="7"/>
          </p:nvPr>
        </p:nvSpPr>
        <p:spPr>
          <a:xfrm>
            <a:off x="8991600" y="6571475"/>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7</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8" name="Footer Placeholder 11">
            <a:extLst>
              <a:ext uri="{FF2B5EF4-FFF2-40B4-BE49-F238E27FC236}">
                <a16:creationId xmlns:a16="http://schemas.microsoft.com/office/drawing/2014/main" id="{F9A73618-904F-3869-AAD7-FB174371E473}"/>
              </a:ext>
            </a:extLst>
          </p:cNvPr>
          <p:cNvSpPr>
            <a:spLocks noGrp="1"/>
          </p:cNvSpPr>
          <p:nvPr>
            <p:ph type="ftr" sz="quarter" idx="5"/>
          </p:nvPr>
        </p:nvSpPr>
        <p:spPr>
          <a:xfrm>
            <a:off x="78738" y="6547528"/>
            <a:ext cx="1978661" cy="269304"/>
          </a:xfrm>
        </p:spPr>
        <p:txBody>
          <a:bodyPr/>
          <a:lstStyle/>
          <a:p>
            <a:pPr marL="12700">
              <a:lnSpc>
                <a:spcPts val="2135"/>
              </a:lnSpc>
            </a:pPr>
            <a:r>
              <a:rPr lang="en-IN" b="1" spc="65" dirty="0">
                <a:solidFill>
                  <a:schemeClr val="bg1"/>
                </a:solidFill>
                <a:latin typeface="Times New Roman" panose="02020603050405020304" pitchFamily="18" charset="0"/>
                <a:cs typeface="Times New Roman" panose="02020603050405020304" pitchFamily="18" charset="0"/>
              </a:rPr>
              <a:t>D</a:t>
            </a:r>
            <a:r>
              <a:rPr lang="en-IN" b="1" spc="95" dirty="0">
                <a:solidFill>
                  <a:schemeClr val="bg1"/>
                </a:solidFill>
                <a:latin typeface="Times New Roman" panose="02020603050405020304" pitchFamily="18" charset="0"/>
                <a:cs typeface="Times New Roman" panose="02020603050405020304" pitchFamily="18" charset="0"/>
              </a:rPr>
              <a:t>e</a:t>
            </a:r>
            <a:r>
              <a:rPr lang="en-IN" b="1" spc="-165" dirty="0">
                <a:solidFill>
                  <a:schemeClr val="bg1"/>
                </a:solidFill>
                <a:latin typeface="Times New Roman" panose="02020603050405020304" pitchFamily="18" charset="0"/>
                <a:cs typeface="Times New Roman" panose="02020603050405020304" pitchFamily="18" charset="0"/>
              </a:rPr>
              <a:t>pt.</a:t>
            </a:r>
            <a:r>
              <a:rPr lang="en-IN" b="1" spc="-265"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o</a:t>
            </a:r>
            <a:r>
              <a:rPr lang="en-IN" b="1" spc="-215" dirty="0">
                <a:solidFill>
                  <a:schemeClr val="bg1"/>
                </a:solidFill>
                <a:latin typeface="Times New Roman" panose="02020603050405020304" pitchFamily="18" charset="0"/>
                <a:cs typeface="Times New Roman" panose="02020603050405020304" pitchFamily="18" charset="0"/>
              </a:rPr>
              <a:t>f</a:t>
            </a:r>
            <a:r>
              <a:rPr lang="en-IN" b="1" spc="-20" dirty="0">
                <a:solidFill>
                  <a:schemeClr val="bg1"/>
                </a:solidFill>
                <a:latin typeface="Times New Roman" panose="02020603050405020304" pitchFamily="18" charset="0"/>
                <a:cs typeface="Times New Roman" panose="02020603050405020304" pitchFamily="18" charset="0"/>
              </a:rPr>
              <a:t>  </a:t>
            </a:r>
            <a:r>
              <a:rPr lang="en-IN" b="1" spc="-45" dirty="0">
                <a:solidFill>
                  <a:schemeClr val="bg1"/>
                </a:solidFill>
                <a:latin typeface="Times New Roman" panose="02020603050405020304" pitchFamily="18" charset="0"/>
                <a:cs typeface="Times New Roman" panose="02020603050405020304" pitchFamily="18" charset="0"/>
              </a:rPr>
              <a:t>CSE,</a:t>
            </a:r>
            <a:r>
              <a:rPr lang="en-IN" b="1" spc="-190"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S</a:t>
            </a:r>
            <a:r>
              <a:rPr lang="en-IN" b="1" spc="30" dirty="0">
                <a:solidFill>
                  <a:schemeClr val="bg1"/>
                </a:solidFill>
                <a:latin typeface="Times New Roman" panose="02020603050405020304" pitchFamily="18" charset="0"/>
                <a:cs typeface="Times New Roman" panose="02020603050405020304" pitchFamily="18" charset="0"/>
              </a:rPr>
              <a:t>V</a:t>
            </a:r>
            <a:r>
              <a:rPr lang="en-IN" b="1" spc="-5" dirty="0">
                <a:solidFill>
                  <a:schemeClr val="bg1"/>
                </a:solidFill>
                <a:latin typeface="Times New Roman" panose="02020603050405020304" pitchFamily="18" charset="0"/>
                <a:cs typeface="Times New Roman" panose="02020603050405020304" pitchFamily="18" charset="0"/>
              </a:rPr>
              <a:t>IT</a:t>
            </a:r>
          </a:p>
        </p:txBody>
      </p:sp>
    </p:spTree>
    <p:extLst>
      <p:ext uri="{BB962C8B-B14F-4D97-AF65-F5344CB8AC3E}">
        <p14:creationId xmlns:p14="http://schemas.microsoft.com/office/powerpoint/2010/main" val="4189264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EBA95-AB6B-2747-E0AA-F5BB20B8549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53415D0-24BE-D255-384F-B9C279BAA4C0}"/>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3BDCEFEB-B20D-8FD0-7392-5C204F3552DE}"/>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pic>
        <p:nvPicPr>
          <p:cNvPr id="9" name="object 9">
            <a:extLst>
              <a:ext uri="{FF2B5EF4-FFF2-40B4-BE49-F238E27FC236}">
                <a16:creationId xmlns:a16="http://schemas.microsoft.com/office/drawing/2014/main" id="{158980D5-14F1-8059-B4E3-66B21D2EAF54}"/>
              </a:ext>
            </a:extLst>
          </p:cNvPr>
          <p:cNvPicPr/>
          <p:nvPr/>
        </p:nvPicPr>
        <p:blipFill>
          <a:blip r:embed="rId2" cstate="print"/>
          <a:stretch>
            <a:fillRect/>
          </a:stretch>
        </p:blipFill>
        <p:spPr>
          <a:xfrm>
            <a:off x="11115675" y="9526"/>
            <a:ext cx="1076325" cy="837144"/>
          </a:xfrm>
          <a:prstGeom prst="rect">
            <a:avLst/>
          </a:prstGeom>
        </p:spPr>
      </p:pic>
      <p:sp>
        <p:nvSpPr>
          <p:cNvPr id="11" name="object 11">
            <a:extLst>
              <a:ext uri="{FF2B5EF4-FFF2-40B4-BE49-F238E27FC236}">
                <a16:creationId xmlns:a16="http://schemas.microsoft.com/office/drawing/2014/main" id="{39AA52BA-0733-EE3B-F4F4-F431ECE62012}"/>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pPr marL="12700">
              <a:lnSpc>
                <a:spcPts val="2135"/>
              </a:lnSpc>
            </a:pPr>
            <a:endParaRPr lang="en-IN" b="1" spc="-5" dirty="0">
              <a:solidFill>
                <a:schemeClr val="bg1"/>
              </a:solidFill>
            </a:endParaRPr>
          </a:p>
        </p:txBody>
      </p:sp>
      <p:sp>
        <p:nvSpPr>
          <p:cNvPr id="16" name="object 5">
            <a:extLst>
              <a:ext uri="{FF2B5EF4-FFF2-40B4-BE49-F238E27FC236}">
                <a16:creationId xmlns:a16="http://schemas.microsoft.com/office/drawing/2014/main" id="{E632C1F1-A80A-1188-040D-6CBAEEE5FBC2}"/>
              </a:ext>
            </a:extLst>
          </p:cNvPr>
          <p:cNvSpPr/>
          <p:nvPr/>
        </p:nvSpPr>
        <p:spPr>
          <a:xfrm>
            <a:off x="0" y="-1055"/>
            <a:ext cx="9877425" cy="763056"/>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8" name="TextBox 17">
            <a:extLst>
              <a:ext uri="{FF2B5EF4-FFF2-40B4-BE49-F238E27FC236}">
                <a16:creationId xmlns:a16="http://schemas.microsoft.com/office/drawing/2014/main" id="{68F1AA59-DB31-9D81-0ABF-A5214FF10E15}"/>
              </a:ext>
            </a:extLst>
          </p:cNvPr>
          <p:cNvSpPr txBox="1"/>
          <p:nvPr/>
        </p:nvSpPr>
        <p:spPr>
          <a:xfrm>
            <a:off x="79850" y="122007"/>
            <a:ext cx="7058710"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METHODOLOGY</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1C9CFC8-B59A-8CBF-E30C-178178C51502}"/>
              </a:ext>
            </a:extLst>
          </p:cNvPr>
          <p:cNvSpPr txBox="1"/>
          <p:nvPr/>
        </p:nvSpPr>
        <p:spPr>
          <a:xfrm>
            <a:off x="228600" y="917720"/>
            <a:ext cx="11734800" cy="4401205"/>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Step 1: Dataset Collection</a:t>
            </a:r>
          </a:p>
          <a:p>
            <a:pPr algn="just"/>
            <a:r>
              <a:rPr lang="en-US" sz="2000" dirty="0">
                <a:latin typeface="Times New Roman" panose="02020603050405020304" pitchFamily="18" charset="0"/>
                <a:cs typeface="Times New Roman" panose="02020603050405020304" pitchFamily="18" charset="0"/>
              </a:rPr>
              <a:t>The first step involves gathering diverse network traffic datasets including NSL-KDD, CIC-IDS, and </a:t>
            </a:r>
            <a:r>
              <a:rPr lang="en-US" sz="2000" dirty="0" err="1">
                <a:latin typeface="Times New Roman" panose="02020603050405020304" pitchFamily="18" charset="0"/>
                <a:cs typeface="Times New Roman" panose="02020603050405020304" pitchFamily="18" charset="0"/>
              </a:rPr>
              <a:t>BoT</a:t>
            </a:r>
            <a:r>
              <a:rPr lang="en-US" sz="2000" dirty="0">
                <a:latin typeface="Times New Roman" panose="02020603050405020304" pitchFamily="18" charset="0"/>
                <a:cs typeface="Times New Roman" panose="02020603050405020304" pitchFamily="18" charset="0"/>
              </a:rPr>
              <a:t>-IoT. These datasets contain both normal and malicious traffic, providing a rich source of data for training the intrusion detection system.</a:t>
            </a:r>
          </a:p>
          <a:p>
            <a:pPr algn="just"/>
            <a:endParaRPr lang="en-US" sz="2000" b="1"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Step 2: Data Preprocessing</a:t>
            </a:r>
          </a:p>
          <a:p>
            <a:pPr algn="just"/>
            <a:r>
              <a:rPr lang="en-US" sz="2000" dirty="0">
                <a:latin typeface="Times New Roman" panose="02020603050405020304" pitchFamily="18" charset="0"/>
                <a:cs typeface="Times New Roman" panose="02020603050405020304" pitchFamily="18" charset="0"/>
              </a:rPr>
              <a:t>Raw data is often noisy, inconsistent, or contains non-numeric values. Preprocessing includes cleaning, scaling, and encoding the data to ensure it is in a suitable format for deep learning models and improves the reliability of the training process.</a:t>
            </a:r>
          </a:p>
          <a:p>
            <a:pPr algn="just"/>
            <a:endParaRPr lang="en-IN"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Step 3: Hybrid Model Training</a:t>
            </a:r>
          </a:p>
          <a:p>
            <a:pPr algn="just"/>
            <a:r>
              <a:rPr lang="en-US" sz="2000" dirty="0">
                <a:latin typeface="Times New Roman" panose="02020603050405020304" pitchFamily="18" charset="0"/>
                <a:cs typeface="Times New Roman" panose="02020603050405020304" pitchFamily="18" charset="0"/>
              </a:rPr>
              <a:t>A hybrid deep learning model combining Conv1D and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layers is trained on the preprocessed data. Conv1D layers capture spatial patterns in network features, while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layers model temporal dependencies, enabling effective detection of complex attack behaviors.</a:t>
            </a:r>
            <a:endParaRPr lang="en-US" sz="2000" b="1"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1DC1132F-09C4-E60D-D028-6BF2AA6DA6F2}"/>
              </a:ext>
            </a:extLst>
          </p:cNvPr>
          <p:cNvSpPr>
            <a:spLocks noGrp="1"/>
          </p:cNvSpPr>
          <p:nvPr>
            <p:ph type="sldNum" sz="quarter" idx="7"/>
          </p:nvPr>
        </p:nvSpPr>
        <p:spPr>
          <a:xfrm>
            <a:off x="9159240" y="6550413"/>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8</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0" name="Footer Placeholder 11">
            <a:extLst>
              <a:ext uri="{FF2B5EF4-FFF2-40B4-BE49-F238E27FC236}">
                <a16:creationId xmlns:a16="http://schemas.microsoft.com/office/drawing/2014/main" id="{F54A21BB-25B4-DDED-6984-2E08FA936A3F}"/>
              </a:ext>
            </a:extLst>
          </p:cNvPr>
          <p:cNvSpPr>
            <a:spLocks noGrp="1"/>
          </p:cNvSpPr>
          <p:nvPr>
            <p:ph type="ftr" sz="quarter" idx="5"/>
          </p:nvPr>
        </p:nvSpPr>
        <p:spPr>
          <a:xfrm>
            <a:off x="78738" y="6547528"/>
            <a:ext cx="1978661" cy="269304"/>
          </a:xfrm>
        </p:spPr>
        <p:txBody>
          <a:bodyPr/>
          <a:lstStyle/>
          <a:p>
            <a:pPr marL="12700">
              <a:lnSpc>
                <a:spcPts val="2135"/>
              </a:lnSpc>
            </a:pPr>
            <a:r>
              <a:rPr lang="en-IN" b="1" spc="65" dirty="0">
                <a:solidFill>
                  <a:schemeClr val="bg1"/>
                </a:solidFill>
                <a:latin typeface="Times New Roman" panose="02020603050405020304" pitchFamily="18" charset="0"/>
                <a:cs typeface="Times New Roman" panose="02020603050405020304" pitchFamily="18" charset="0"/>
              </a:rPr>
              <a:t>D</a:t>
            </a:r>
            <a:r>
              <a:rPr lang="en-IN" b="1" spc="95" dirty="0">
                <a:solidFill>
                  <a:schemeClr val="bg1"/>
                </a:solidFill>
                <a:latin typeface="Times New Roman" panose="02020603050405020304" pitchFamily="18" charset="0"/>
                <a:cs typeface="Times New Roman" panose="02020603050405020304" pitchFamily="18" charset="0"/>
              </a:rPr>
              <a:t>e</a:t>
            </a:r>
            <a:r>
              <a:rPr lang="en-IN" b="1" spc="-165" dirty="0">
                <a:solidFill>
                  <a:schemeClr val="bg1"/>
                </a:solidFill>
                <a:latin typeface="Times New Roman" panose="02020603050405020304" pitchFamily="18" charset="0"/>
                <a:cs typeface="Times New Roman" panose="02020603050405020304" pitchFamily="18" charset="0"/>
              </a:rPr>
              <a:t>pt.</a:t>
            </a:r>
            <a:r>
              <a:rPr lang="en-IN" b="1" spc="-265"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o</a:t>
            </a:r>
            <a:r>
              <a:rPr lang="en-IN" b="1" spc="-215" dirty="0">
                <a:solidFill>
                  <a:schemeClr val="bg1"/>
                </a:solidFill>
                <a:latin typeface="Times New Roman" panose="02020603050405020304" pitchFamily="18" charset="0"/>
                <a:cs typeface="Times New Roman" panose="02020603050405020304" pitchFamily="18" charset="0"/>
              </a:rPr>
              <a:t>f</a:t>
            </a:r>
            <a:r>
              <a:rPr lang="en-IN" b="1" spc="-20" dirty="0">
                <a:solidFill>
                  <a:schemeClr val="bg1"/>
                </a:solidFill>
                <a:latin typeface="Times New Roman" panose="02020603050405020304" pitchFamily="18" charset="0"/>
                <a:cs typeface="Times New Roman" panose="02020603050405020304" pitchFamily="18" charset="0"/>
              </a:rPr>
              <a:t>  </a:t>
            </a:r>
            <a:r>
              <a:rPr lang="en-IN" b="1" spc="-45" dirty="0">
                <a:solidFill>
                  <a:schemeClr val="bg1"/>
                </a:solidFill>
                <a:latin typeface="Times New Roman" panose="02020603050405020304" pitchFamily="18" charset="0"/>
                <a:cs typeface="Times New Roman" panose="02020603050405020304" pitchFamily="18" charset="0"/>
              </a:rPr>
              <a:t>CSE,</a:t>
            </a:r>
            <a:r>
              <a:rPr lang="en-IN" b="1" spc="-190"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S</a:t>
            </a:r>
            <a:r>
              <a:rPr lang="en-IN" b="1" spc="30" dirty="0">
                <a:solidFill>
                  <a:schemeClr val="bg1"/>
                </a:solidFill>
                <a:latin typeface="Times New Roman" panose="02020603050405020304" pitchFamily="18" charset="0"/>
                <a:cs typeface="Times New Roman" panose="02020603050405020304" pitchFamily="18" charset="0"/>
              </a:rPr>
              <a:t>V</a:t>
            </a:r>
            <a:r>
              <a:rPr lang="en-IN" b="1" spc="-5" dirty="0">
                <a:solidFill>
                  <a:schemeClr val="bg1"/>
                </a:solidFill>
                <a:latin typeface="Times New Roman" panose="02020603050405020304" pitchFamily="18" charset="0"/>
                <a:cs typeface="Times New Roman" panose="02020603050405020304" pitchFamily="18" charset="0"/>
              </a:rPr>
              <a:t>IT</a:t>
            </a:r>
          </a:p>
        </p:txBody>
      </p:sp>
    </p:spTree>
    <p:extLst>
      <p:ext uri="{BB962C8B-B14F-4D97-AF65-F5344CB8AC3E}">
        <p14:creationId xmlns:p14="http://schemas.microsoft.com/office/powerpoint/2010/main" val="2226127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A537C-23A8-EDC9-AC30-494F6877BEE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3C7E1A0-2795-7121-26C5-C37E7B18E3D6}"/>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F3BE0589-6FF7-0993-98D4-955E660D4B68}"/>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pic>
        <p:nvPicPr>
          <p:cNvPr id="9" name="object 9">
            <a:extLst>
              <a:ext uri="{FF2B5EF4-FFF2-40B4-BE49-F238E27FC236}">
                <a16:creationId xmlns:a16="http://schemas.microsoft.com/office/drawing/2014/main" id="{0799F98F-946D-E8C9-9B43-3511A7DED888}"/>
              </a:ext>
            </a:extLst>
          </p:cNvPr>
          <p:cNvPicPr/>
          <p:nvPr/>
        </p:nvPicPr>
        <p:blipFill>
          <a:blip r:embed="rId2" cstate="print"/>
          <a:stretch>
            <a:fillRect/>
          </a:stretch>
        </p:blipFill>
        <p:spPr>
          <a:xfrm>
            <a:off x="11115675" y="9526"/>
            <a:ext cx="1076325" cy="837144"/>
          </a:xfrm>
          <a:prstGeom prst="rect">
            <a:avLst/>
          </a:prstGeom>
        </p:spPr>
      </p:pic>
      <p:sp>
        <p:nvSpPr>
          <p:cNvPr id="11" name="object 11">
            <a:extLst>
              <a:ext uri="{FF2B5EF4-FFF2-40B4-BE49-F238E27FC236}">
                <a16:creationId xmlns:a16="http://schemas.microsoft.com/office/drawing/2014/main" id="{81C8A510-7BC5-6F40-7744-7DFEF82CE13E}"/>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pPr marL="12700">
              <a:lnSpc>
                <a:spcPts val="2135"/>
              </a:lnSpc>
            </a:pPr>
            <a:endParaRPr lang="en-IN" b="1" spc="-5" dirty="0">
              <a:solidFill>
                <a:schemeClr val="bg1"/>
              </a:solidFill>
            </a:endParaRPr>
          </a:p>
        </p:txBody>
      </p:sp>
      <p:sp>
        <p:nvSpPr>
          <p:cNvPr id="16" name="object 5">
            <a:extLst>
              <a:ext uri="{FF2B5EF4-FFF2-40B4-BE49-F238E27FC236}">
                <a16:creationId xmlns:a16="http://schemas.microsoft.com/office/drawing/2014/main" id="{9BF412B5-5DE5-EB38-F873-F92124B3639B}"/>
              </a:ext>
            </a:extLst>
          </p:cNvPr>
          <p:cNvSpPr/>
          <p:nvPr/>
        </p:nvSpPr>
        <p:spPr>
          <a:xfrm>
            <a:off x="0" y="-1055"/>
            <a:ext cx="9877425" cy="763056"/>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8" name="TextBox 17">
            <a:extLst>
              <a:ext uri="{FF2B5EF4-FFF2-40B4-BE49-F238E27FC236}">
                <a16:creationId xmlns:a16="http://schemas.microsoft.com/office/drawing/2014/main" id="{8811496B-9A4C-F59E-F10E-1ACA1059D3FE}"/>
              </a:ext>
            </a:extLst>
          </p:cNvPr>
          <p:cNvSpPr txBox="1"/>
          <p:nvPr/>
        </p:nvSpPr>
        <p:spPr>
          <a:xfrm>
            <a:off x="79850" y="122007"/>
            <a:ext cx="7058710"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METHODOLOGY</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6219F16-43A6-232E-B541-FB3F2ACE2CC6}"/>
              </a:ext>
            </a:extLst>
          </p:cNvPr>
          <p:cNvSpPr txBox="1"/>
          <p:nvPr/>
        </p:nvSpPr>
        <p:spPr>
          <a:xfrm>
            <a:off x="202474" y="870095"/>
            <a:ext cx="11734800" cy="5324535"/>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Step 4: Model Evaluation</a:t>
            </a:r>
          </a:p>
          <a:p>
            <a:pPr algn="just"/>
            <a:r>
              <a:rPr lang="en-US" sz="2000" dirty="0">
                <a:latin typeface="Times New Roman" panose="02020603050405020304" pitchFamily="18" charset="0"/>
                <a:cs typeface="Times New Roman" panose="02020603050405020304" pitchFamily="18" charset="0"/>
              </a:rPr>
              <a:t>The trained model is evaluated using metrics such as Accuracy, Precision, Recall, and F1-score. This ensures that the model not only correctly identifies attacks but also minimizes false positives and negatives, providing robust performance across different attack types.</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Step 5: Testing Phase</a:t>
            </a:r>
          </a:p>
          <a:p>
            <a:pPr algn="just"/>
            <a:r>
              <a:rPr lang="en-US" sz="2000" dirty="0"/>
              <a:t>After evaluation, the model undergoes a rigorous testing phase using unseen network traffic data to validate its generalization capabilities. This phase assesses how well the system can detect new or evolving attack patterns in real-world scenarios.</a:t>
            </a:r>
            <a:endParaRPr lang="en-US" sz="2000" dirty="0">
              <a:latin typeface="Times New Roman" panose="02020603050405020304" pitchFamily="18" charset="0"/>
              <a:cs typeface="Times New Roman" panose="02020603050405020304" pitchFamily="18" charset="0"/>
            </a:endParaRPr>
          </a:p>
          <a:p>
            <a:pPr algn="just"/>
            <a:endParaRPr lang="en-US"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Step 5: Explainability with SHAP</a:t>
            </a:r>
          </a:p>
          <a:p>
            <a:pPr algn="just"/>
            <a:r>
              <a:rPr lang="en-US" sz="2000" dirty="0">
                <a:latin typeface="Times New Roman" panose="02020603050405020304" pitchFamily="18" charset="0"/>
                <a:cs typeface="Times New Roman" panose="02020603050405020304" pitchFamily="18" charset="0"/>
              </a:rPr>
              <a:t>SHAP values are used to interpret the model’s predictions and understand feature importance. This step provides transparency by showing which features contribute most to the detection of intrusions, making the system explainable and trustworthy.</a:t>
            </a:r>
          </a:p>
          <a:p>
            <a:pPr algn="just"/>
            <a:endParaRPr lang="en-IN"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Step 6: Deployment</a:t>
            </a:r>
          </a:p>
          <a:p>
            <a:pPr algn="just"/>
            <a:r>
              <a:rPr lang="en-US" sz="2000" dirty="0">
                <a:latin typeface="Times New Roman" panose="02020603050405020304" pitchFamily="18" charset="0"/>
                <a:cs typeface="Times New Roman" panose="02020603050405020304" pitchFamily="18" charset="0"/>
              </a:rPr>
              <a:t>The final trained model is deployed for real-time intrusion detection with explainability.</a:t>
            </a:r>
            <a:endParaRPr lang="en-US" sz="2000" b="1" dirty="0">
              <a:latin typeface="Times New Roman" panose="02020603050405020304" pitchFamily="18" charset="0"/>
              <a:cs typeface="Times New Roman" panose="02020603050405020304" pitchFamily="18" charset="0"/>
            </a:endParaRPr>
          </a:p>
        </p:txBody>
      </p:sp>
      <p:sp>
        <p:nvSpPr>
          <p:cNvPr id="12" name="Slide Number Placeholder 11">
            <a:extLst>
              <a:ext uri="{FF2B5EF4-FFF2-40B4-BE49-F238E27FC236}">
                <a16:creationId xmlns:a16="http://schemas.microsoft.com/office/drawing/2014/main" id="{1317B579-E2AB-8DFF-F49F-FA2D0C5E9B5D}"/>
              </a:ext>
            </a:extLst>
          </p:cNvPr>
          <p:cNvSpPr>
            <a:spLocks noGrp="1"/>
          </p:cNvSpPr>
          <p:nvPr>
            <p:ph type="sldNum" sz="quarter" idx="7"/>
          </p:nvPr>
        </p:nvSpPr>
        <p:spPr>
          <a:xfrm>
            <a:off x="9133114" y="6557575"/>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9</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4" name="Footer Placeholder 11">
            <a:extLst>
              <a:ext uri="{FF2B5EF4-FFF2-40B4-BE49-F238E27FC236}">
                <a16:creationId xmlns:a16="http://schemas.microsoft.com/office/drawing/2014/main" id="{F98ECA3E-95EB-4F94-B44B-6742D747B541}"/>
              </a:ext>
            </a:extLst>
          </p:cNvPr>
          <p:cNvSpPr>
            <a:spLocks noGrp="1"/>
          </p:cNvSpPr>
          <p:nvPr>
            <p:ph type="ftr" sz="quarter" idx="5"/>
          </p:nvPr>
        </p:nvSpPr>
        <p:spPr>
          <a:xfrm>
            <a:off x="78738" y="6547528"/>
            <a:ext cx="1978661" cy="269304"/>
          </a:xfrm>
        </p:spPr>
        <p:txBody>
          <a:bodyPr/>
          <a:lstStyle/>
          <a:p>
            <a:pPr marL="12700">
              <a:lnSpc>
                <a:spcPts val="2135"/>
              </a:lnSpc>
            </a:pPr>
            <a:r>
              <a:rPr lang="en-IN" b="1" spc="65" dirty="0">
                <a:solidFill>
                  <a:schemeClr val="bg1"/>
                </a:solidFill>
                <a:latin typeface="Times New Roman" panose="02020603050405020304" pitchFamily="18" charset="0"/>
                <a:cs typeface="Times New Roman" panose="02020603050405020304" pitchFamily="18" charset="0"/>
              </a:rPr>
              <a:t>D</a:t>
            </a:r>
            <a:r>
              <a:rPr lang="en-IN" b="1" spc="95" dirty="0">
                <a:solidFill>
                  <a:schemeClr val="bg1"/>
                </a:solidFill>
                <a:latin typeface="Times New Roman" panose="02020603050405020304" pitchFamily="18" charset="0"/>
                <a:cs typeface="Times New Roman" panose="02020603050405020304" pitchFamily="18" charset="0"/>
              </a:rPr>
              <a:t>e</a:t>
            </a:r>
            <a:r>
              <a:rPr lang="en-IN" b="1" spc="-165" dirty="0">
                <a:solidFill>
                  <a:schemeClr val="bg1"/>
                </a:solidFill>
                <a:latin typeface="Times New Roman" panose="02020603050405020304" pitchFamily="18" charset="0"/>
                <a:cs typeface="Times New Roman" panose="02020603050405020304" pitchFamily="18" charset="0"/>
              </a:rPr>
              <a:t>pt.</a:t>
            </a:r>
            <a:r>
              <a:rPr lang="en-IN" b="1" spc="-265"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o</a:t>
            </a:r>
            <a:r>
              <a:rPr lang="en-IN" b="1" spc="-215" dirty="0">
                <a:solidFill>
                  <a:schemeClr val="bg1"/>
                </a:solidFill>
                <a:latin typeface="Times New Roman" panose="02020603050405020304" pitchFamily="18" charset="0"/>
                <a:cs typeface="Times New Roman" panose="02020603050405020304" pitchFamily="18" charset="0"/>
              </a:rPr>
              <a:t>f</a:t>
            </a:r>
            <a:r>
              <a:rPr lang="en-IN" b="1" spc="-20" dirty="0">
                <a:solidFill>
                  <a:schemeClr val="bg1"/>
                </a:solidFill>
                <a:latin typeface="Times New Roman" panose="02020603050405020304" pitchFamily="18" charset="0"/>
                <a:cs typeface="Times New Roman" panose="02020603050405020304" pitchFamily="18" charset="0"/>
              </a:rPr>
              <a:t>  </a:t>
            </a:r>
            <a:r>
              <a:rPr lang="en-IN" b="1" spc="-45" dirty="0">
                <a:solidFill>
                  <a:schemeClr val="bg1"/>
                </a:solidFill>
                <a:latin typeface="Times New Roman" panose="02020603050405020304" pitchFamily="18" charset="0"/>
                <a:cs typeface="Times New Roman" panose="02020603050405020304" pitchFamily="18" charset="0"/>
              </a:rPr>
              <a:t>CSE,</a:t>
            </a:r>
            <a:r>
              <a:rPr lang="en-IN" b="1" spc="-190"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S</a:t>
            </a:r>
            <a:r>
              <a:rPr lang="en-IN" b="1" spc="30" dirty="0">
                <a:solidFill>
                  <a:schemeClr val="bg1"/>
                </a:solidFill>
                <a:latin typeface="Times New Roman" panose="02020603050405020304" pitchFamily="18" charset="0"/>
                <a:cs typeface="Times New Roman" panose="02020603050405020304" pitchFamily="18" charset="0"/>
              </a:rPr>
              <a:t>V</a:t>
            </a:r>
            <a:r>
              <a:rPr lang="en-IN" b="1" spc="-5" dirty="0">
                <a:solidFill>
                  <a:schemeClr val="bg1"/>
                </a:solidFill>
                <a:latin typeface="Times New Roman" panose="02020603050405020304" pitchFamily="18" charset="0"/>
                <a:cs typeface="Times New Roman" panose="02020603050405020304" pitchFamily="18" charset="0"/>
              </a:rPr>
              <a:t>IT</a:t>
            </a:r>
          </a:p>
        </p:txBody>
      </p:sp>
    </p:spTree>
    <p:extLst>
      <p:ext uri="{BB962C8B-B14F-4D97-AF65-F5344CB8AC3E}">
        <p14:creationId xmlns:p14="http://schemas.microsoft.com/office/powerpoint/2010/main" val="1222936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325AF-7D1C-B435-F3C3-C129DEADDFA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0D032E7-8254-ABF9-DF0B-F5BE690C68FC}"/>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072746D0-EA1C-C2CB-2F1C-BB9AB1C4F65B}"/>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pic>
        <p:nvPicPr>
          <p:cNvPr id="9" name="object 9">
            <a:extLst>
              <a:ext uri="{FF2B5EF4-FFF2-40B4-BE49-F238E27FC236}">
                <a16:creationId xmlns:a16="http://schemas.microsoft.com/office/drawing/2014/main" id="{27568720-2FCB-EB00-701B-183E008CA6D0}"/>
              </a:ext>
            </a:extLst>
          </p:cNvPr>
          <p:cNvPicPr/>
          <p:nvPr/>
        </p:nvPicPr>
        <p:blipFill>
          <a:blip r:embed="rId2" cstate="print"/>
          <a:stretch>
            <a:fillRect/>
          </a:stretch>
        </p:blipFill>
        <p:spPr>
          <a:xfrm>
            <a:off x="11115675" y="9526"/>
            <a:ext cx="1076325" cy="837144"/>
          </a:xfrm>
          <a:prstGeom prst="rect">
            <a:avLst/>
          </a:prstGeom>
        </p:spPr>
      </p:pic>
      <p:sp>
        <p:nvSpPr>
          <p:cNvPr id="11" name="object 11">
            <a:extLst>
              <a:ext uri="{FF2B5EF4-FFF2-40B4-BE49-F238E27FC236}">
                <a16:creationId xmlns:a16="http://schemas.microsoft.com/office/drawing/2014/main" id="{E86DB2B5-6CFF-57A9-9CCE-AB9F6C3FA8E6}"/>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sp>
        <p:nvSpPr>
          <p:cNvPr id="16" name="object 5">
            <a:extLst>
              <a:ext uri="{FF2B5EF4-FFF2-40B4-BE49-F238E27FC236}">
                <a16:creationId xmlns:a16="http://schemas.microsoft.com/office/drawing/2014/main" id="{8EEFE28D-7DC3-2D74-8588-F42E4EF4A1B8}"/>
              </a:ext>
            </a:extLst>
          </p:cNvPr>
          <p:cNvSpPr/>
          <p:nvPr/>
        </p:nvSpPr>
        <p:spPr>
          <a:xfrm>
            <a:off x="0" y="-1055"/>
            <a:ext cx="9877425" cy="763056"/>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8" name="TextBox 17">
            <a:extLst>
              <a:ext uri="{FF2B5EF4-FFF2-40B4-BE49-F238E27FC236}">
                <a16:creationId xmlns:a16="http://schemas.microsoft.com/office/drawing/2014/main" id="{5BFB6577-35CE-21FD-DB49-A97B002A5366}"/>
              </a:ext>
            </a:extLst>
          </p:cNvPr>
          <p:cNvSpPr txBox="1"/>
          <p:nvPr/>
        </p:nvSpPr>
        <p:spPr>
          <a:xfrm>
            <a:off x="79850" y="122007"/>
            <a:ext cx="7058710"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PROGRESS OF IMPLEMENTATION</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7FBE0C42-B7BE-C77F-8762-EDCA191992F1}"/>
              </a:ext>
            </a:extLst>
          </p:cNvPr>
          <p:cNvSpPr txBox="1"/>
          <p:nvPr/>
        </p:nvSpPr>
        <p:spPr>
          <a:xfrm>
            <a:off x="190500" y="1166995"/>
            <a:ext cx="11811000" cy="4708981"/>
          </a:xfrm>
          <a:prstGeom prst="rect">
            <a:avLst/>
          </a:prstGeom>
          <a:noFill/>
        </p:spPr>
        <p:txBody>
          <a:bodyPr wrap="square">
            <a:spAutoFit/>
          </a:bodyPr>
          <a:lstStyle/>
          <a:p>
            <a:pPr marR="0" lvl="0" algn="l" defTabSz="914400" rtl="0" eaLnBrk="0" fontAlgn="base" latinLnBrk="0" hangingPunct="0">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Completed Research &amp; Dataset Collection </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Completed gathering and understanding datasets like NSL-KDD, CIC-IDS 2017 V2,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BoT_IoT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ToN_IoT</a:t>
            </a:r>
            <a:r>
              <a:rPr lang="en-US" altLang="en-US" sz="2000"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spcBef>
                <a:spcPct val="0"/>
              </a:spcBef>
              <a:spcAft>
                <a:spcPct val="0"/>
              </a:spcAft>
              <a:buClrTx/>
              <a:buSzTx/>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Model Architecture has been Designed </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Conv1D +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BiLSTM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hybrid model structure finalized and ready for training.</a:t>
            </a:r>
          </a:p>
          <a:p>
            <a:pPr marL="0" marR="0" lvl="0" indent="0" algn="l" defTabSz="914400" rtl="0" eaLnBrk="0" fontAlgn="base" latinLnBrk="0" hangingPunct="0">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altLang="en-US" sz="2000" b="1" dirty="0">
                <a:latin typeface="Times New Roman" panose="02020603050405020304" pitchFamily="18" charset="0"/>
                <a:cs typeface="Times New Roman" panose="02020603050405020304" pitchFamily="18" charset="0"/>
              </a:rPr>
              <a:t>3. Preprocessing Pipeline </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Cleaning, scaling, and encoding steps have been implemented successfully.</a:t>
            </a:r>
          </a:p>
          <a:p>
            <a:pPr eaLnBrk="0" fontAlgn="base" hangingPunct="0">
              <a:spcBef>
                <a:spcPct val="0"/>
              </a:spcBef>
              <a:spcAft>
                <a:spcPct val="0"/>
              </a:spcAft>
            </a:pPr>
            <a:endParaRPr lang="en-US" altLang="en-US" sz="2000" b="1"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altLang="en-US" sz="2000" b="1" dirty="0">
                <a:latin typeface="Times New Roman" panose="02020603050405020304" pitchFamily="18" charset="0"/>
                <a:cs typeface="Times New Roman" panose="02020603050405020304" pitchFamily="18" charset="0"/>
              </a:rPr>
              <a:t>4. Training in Progress (50% Completed)</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Model is currently being trained on the preprocessed datasets to achieve optimal performance. Completed training with two datasets (NDL-KDD and CIC-IDS 2017 V2) and one more dataset training in progress.</a:t>
            </a:r>
          </a:p>
          <a:p>
            <a:pPr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910A00C9-8989-B446-0CCB-9BD5BB0A7856}"/>
              </a:ext>
            </a:extLst>
          </p:cNvPr>
          <p:cNvSpPr>
            <a:spLocks noGrp="1"/>
          </p:cNvSpPr>
          <p:nvPr>
            <p:ph type="sldNum" sz="quarter" idx="7"/>
          </p:nvPr>
        </p:nvSpPr>
        <p:spPr>
          <a:xfrm>
            <a:off x="9177746" y="6557575"/>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10</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0" name="Footer Placeholder 11">
            <a:extLst>
              <a:ext uri="{FF2B5EF4-FFF2-40B4-BE49-F238E27FC236}">
                <a16:creationId xmlns:a16="http://schemas.microsoft.com/office/drawing/2014/main" id="{E9D8B147-CC3B-ABD6-1415-A38E9EC5DB68}"/>
              </a:ext>
            </a:extLst>
          </p:cNvPr>
          <p:cNvSpPr>
            <a:spLocks noGrp="1"/>
          </p:cNvSpPr>
          <p:nvPr>
            <p:ph type="ftr" sz="quarter" idx="5"/>
          </p:nvPr>
        </p:nvSpPr>
        <p:spPr>
          <a:xfrm>
            <a:off x="78738" y="6547528"/>
            <a:ext cx="1978661" cy="269304"/>
          </a:xfrm>
        </p:spPr>
        <p:txBody>
          <a:bodyPr/>
          <a:lstStyle/>
          <a:p>
            <a:pPr marL="12700">
              <a:lnSpc>
                <a:spcPts val="2135"/>
              </a:lnSpc>
            </a:pPr>
            <a:r>
              <a:rPr lang="en-IN" b="1" spc="65" dirty="0">
                <a:solidFill>
                  <a:schemeClr val="bg1"/>
                </a:solidFill>
                <a:latin typeface="Times New Roman" panose="02020603050405020304" pitchFamily="18" charset="0"/>
                <a:cs typeface="Times New Roman" panose="02020603050405020304" pitchFamily="18" charset="0"/>
              </a:rPr>
              <a:t>D</a:t>
            </a:r>
            <a:r>
              <a:rPr lang="en-IN" b="1" spc="95" dirty="0">
                <a:solidFill>
                  <a:schemeClr val="bg1"/>
                </a:solidFill>
                <a:latin typeface="Times New Roman" panose="02020603050405020304" pitchFamily="18" charset="0"/>
                <a:cs typeface="Times New Roman" panose="02020603050405020304" pitchFamily="18" charset="0"/>
              </a:rPr>
              <a:t>e</a:t>
            </a:r>
            <a:r>
              <a:rPr lang="en-IN" b="1" spc="-165" dirty="0">
                <a:solidFill>
                  <a:schemeClr val="bg1"/>
                </a:solidFill>
                <a:latin typeface="Times New Roman" panose="02020603050405020304" pitchFamily="18" charset="0"/>
                <a:cs typeface="Times New Roman" panose="02020603050405020304" pitchFamily="18" charset="0"/>
              </a:rPr>
              <a:t>pt.</a:t>
            </a:r>
            <a:r>
              <a:rPr lang="en-IN" b="1" spc="-265"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o</a:t>
            </a:r>
            <a:r>
              <a:rPr lang="en-IN" b="1" spc="-215" dirty="0">
                <a:solidFill>
                  <a:schemeClr val="bg1"/>
                </a:solidFill>
                <a:latin typeface="Times New Roman" panose="02020603050405020304" pitchFamily="18" charset="0"/>
                <a:cs typeface="Times New Roman" panose="02020603050405020304" pitchFamily="18" charset="0"/>
              </a:rPr>
              <a:t>f</a:t>
            </a:r>
            <a:r>
              <a:rPr lang="en-IN" b="1" spc="-20" dirty="0">
                <a:solidFill>
                  <a:schemeClr val="bg1"/>
                </a:solidFill>
                <a:latin typeface="Times New Roman" panose="02020603050405020304" pitchFamily="18" charset="0"/>
                <a:cs typeface="Times New Roman" panose="02020603050405020304" pitchFamily="18" charset="0"/>
              </a:rPr>
              <a:t>  </a:t>
            </a:r>
            <a:r>
              <a:rPr lang="en-IN" b="1" spc="-45" dirty="0">
                <a:solidFill>
                  <a:schemeClr val="bg1"/>
                </a:solidFill>
                <a:latin typeface="Times New Roman" panose="02020603050405020304" pitchFamily="18" charset="0"/>
                <a:cs typeface="Times New Roman" panose="02020603050405020304" pitchFamily="18" charset="0"/>
              </a:rPr>
              <a:t>CSE,</a:t>
            </a:r>
            <a:r>
              <a:rPr lang="en-IN" b="1" spc="-190"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S</a:t>
            </a:r>
            <a:r>
              <a:rPr lang="en-IN" b="1" spc="30" dirty="0">
                <a:solidFill>
                  <a:schemeClr val="bg1"/>
                </a:solidFill>
                <a:latin typeface="Times New Roman" panose="02020603050405020304" pitchFamily="18" charset="0"/>
                <a:cs typeface="Times New Roman" panose="02020603050405020304" pitchFamily="18" charset="0"/>
              </a:rPr>
              <a:t>V</a:t>
            </a:r>
            <a:r>
              <a:rPr lang="en-IN" b="1" spc="-5" dirty="0">
                <a:solidFill>
                  <a:schemeClr val="bg1"/>
                </a:solidFill>
                <a:latin typeface="Times New Roman" panose="02020603050405020304" pitchFamily="18" charset="0"/>
                <a:cs typeface="Times New Roman" panose="02020603050405020304" pitchFamily="18" charset="0"/>
              </a:rPr>
              <a:t>IT</a:t>
            </a:r>
          </a:p>
        </p:txBody>
      </p:sp>
    </p:spTree>
    <p:extLst>
      <p:ext uri="{BB962C8B-B14F-4D97-AF65-F5344CB8AC3E}">
        <p14:creationId xmlns:p14="http://schemas.microsoft.com/office/powerpoint/2010/main" val="1407286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6F892-CEEC-A6C2-97D7-0CD28B359E9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C1F27E6-924D-0154-9FE0-5453C0127B54}"/>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A8791CE3-DFCB-46ED-5679-BD000426731D}"/>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pic>
        <p:nvPicPr>
          <p:cNvPr id="9" name="object 9">
            <a:extLst>
              <a:ext uri="{FF2B5EF4-FFF2-40B4-BE49-F238E27FC236}">
                <a16:creationId xmlns:a16="http://schemas.microsoft.com/office/drawing/2014/main" id="{DEC1D910-7951-1053-D716-9E7290B712BE}"/>
              </a:ext>
            </a:extLst>
          </p:cNvPr>
          <p:cNvPicPr/>
          <p:nvPr/>
        </p:nvPicPr>
        <p:blipFill>
          <a:blip r:embed="rId2" cstate="print"/>
          <a:stretch>
            <a:fillRect/>
          </a:stretch>
        </p:blipFill>
        <p:spPr>
          <a:xfrm>
            <a:off x="11115675" y="9526"/>
            <a:ext cx="1076325" cy="837144"/>
          </a:xfrm>
          <a:prstGeom prst="rect">
            <a:avLst/>
          </a:prstGeom>
        </p:spPr>
      </p:pic>
      <p:sp>
        <p:nvSpPr>
          <p:cNvPr id="11" name="object 11">
            <a:extLst>
              <a:ext uri="{FF2B5EF4-FFF2-40B4-BE49-F238E27FC236}">
                <a16:creationId xmlns:a16="http://schemas.microsoft.com/office/drawing/2014/main" id="{B3C3F5B7-5FBC-E221-55DA-4F44ED90E2EC}"/>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sp>
        <p:nvSpPr>
          <p:cNvPr id="16" name="object 5">
            <a:extLst>
              <a:ext uri="{FF2B5EF4-FFF2-40B4-BE49-F238E27FC236}">
                <a16:creationId xmlns:a16="http://schemas.microsoft.com/office/drawing/2014/main" id="{F265F66D-45AC-784C-C176-7099EBBE7107}"/>
              </a:ext>
            </a:extLst>
          </p:cNvPr>
          <p:cNvSpPr/>
          <p:nvPr/>
        </p:nvSpPr>
        <p:spPr>
          <a:xfrm>
            <a:off x="0" y="-1055"/>
            <a:ext cx="9877425" cy="763056"/>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8" name="TextBox 17">
            <a:extLst>
              <a:ext uri="{FF2B5EF4-FFF2-40B4-BE49-F238E27FC236}">
                <a16:creationId xmlns:a16="http://schemas.microsoft.com/office/drawing/2014/main" id="{0A6890B3-26D0-B334-EC91-E3BFAED60254}"/>
              </a:ext>
            </a:extLst>
          </p:cNvPr>
          <p:cNvSpPr txBox="1"/>
          <p:nvPr/>
        </p:nvSpPr>
        <p:spPr>
          <a:xfrm>
            <a:off x="79850" y="122007"/>
            <a:ext cx="8987950"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PROGRESS OF IMPLEMENTATION SNAPSHOTS</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BE15A618-9882-11E5-7581-82F21141573A}"/>
              </a:ext>
            </a:extLst>
          </p:cNvPr>
          <p:cNvSpPr txBox="1"/>
          <p:nvPr/>
        </p:nvSpPr>
        <p:spPr>
          <a:xfrm>
            <a:off x="190500" y="1120830"/>
            <a:ext cx="11811000" cy="1938992"/>
          </a:xfrm>
          <a:prstGeom prst="rect">
            <a:avLst/>
          </a:prstGeom>
          <a:noFill/>
        </p:spPr>
        <p:txBody>
          <a:bodyPr wrap="square">
            <a:spAutoFit/>
          </a:bodyPr>
          <a:lstStyle/>
          <a:p>
            <a:pPr marL="0" marR="0" lvl="0" indent="0" algn="l" defTabSz="914400" rtl="0" eaLnBrk="0" fontAlgn="base" latinLnBrk="0" hangingPunct="0">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0CC0A4E9-FD57-9A94-0F7F-64761B280B08}"/>
              </a:ext>
            </a:extLst>
          </p:cNvPr>
          <p:cNvSpPr>
            <a:spLocks noGrp="1"/>
          </p:cNvSpPr>
          <p:nvPr>
            <p:ph type="sldNum" sz="quarter" idx="7"/>
          </p:nvPr>
        </p:nvSpPr>
        <p:spPr>
          <a:xfrm>
            <a:off x="9177746" y="6557575"/>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11</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0" name="Footer Placeholder 11">
            <a:extLst>
              <a:ext uri="{FF2B5EF4-FFF2-40B4-BE49-F238E27FC236}">
                <a16:creationId xmlns:a16="http://schemas.microsoft.com/office/drawing/2014/main" id="{A14F05A8-6FD1-44C2-0D19-1594609A2CD9}"/>
              </a:ext>
            </a:extLst>
          </p:cNvPr>
          <p:cNvSpPr>
            <a:spLocks noGrp="1"/>
          </p:cNvSpPr>
          <p:nvPr>
            <p:ph type="ftr" sz="quarter" idx="5"/>
          </p:nvPr>
        </p:nvSpPr>
        <p:spPr>
          <a:xfrm>
            <a:off x="78738" y="6547528"/>
            <a:ext cx="1978661" cy="269304"/>
          </a:xfrm>
        </p:spPr>
        <p:txBody>
          <a:bodyPr/>
          <a:lstStyle/>
          <a:p>
            <a:pPr marL="12700">
              <a:lnSpc>
                <a:spcPts val="2135"/>
              </a:lnSpc>
            </a:pPr>
            <a:r>
              <a:rPr lang="en-IN" b="1" spc="65" dirty="0">
                <a:solidFill>
                  <a:schemeClr val="bg1"/>
                </a:solidFill>
                <a:latin typeface="Times New Roman" panose="02020603050405020304" pitchFamily="18" charset="0"/>
                <a:cs typeface="Times New Roman" panose="02020603050405020304" pitchFamily="18" charset="0"/>
              </a:rPr>
              <a:t>D</a:t>
            </a:r>
            <a:r>
              <a:rPr lang="en-IN" b="1" spc="95" dirty="0">
                <a:solidFill>
                  <a:schemeClr val="bg1"/>
                </a:solidFill>
                <a:latin typeface="Times New Roman" panose="02020603050405020304" pitchFamily="18" charset="0"/>
                <a:cs typeface="Times New Roman" panose="02020603050405020304" pitchFamily="18" charset="0"/>
              </a:rPr>
              <a:t>e</a:t>
            </a:r>
            <a:r>
              <a:rPr lang="en-IN" b="1" spc="-165" dirty="0">
                <a:solidFill>
                  <a:schemeClr val="bg1"/>
                </a:solidFill>
                <a:latin typeface="Times New Roman" panose="02020603050405020304" pitchFamily="18" charset="0"/>
                <a:cs typeface="Times New Roman" panose="02020603050405020304" pitchFamily="18" charset="0"/>
              </a:rPr>
              <a:t>pt.</a:t>
            </a:r>
            <a:r>
              <a:rPr lang="en-IN" b="1" spc="-265"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o</a:t>
            </a:r>
            <a:r>
              <a:rPr lang="en-IN" b="1" spc="-215" dirty="0">
                <a:solidFill>
                  <a:schemeClr val="bg1"/>
                </a:solidFill>
                <a:latin typeface="Times New Roman" panose="02020603050405020304" pitchFamily="18" charset="0"/>
                <a:cs typeface="Times New Roman" panose="02020603050405020304" pitchFamily="18" charset="0"/>
              </a:rPr>
              <a:t>f</a:t>
            </a:r>
            <a:r>
              <a:rPr lang="en-IN" b="1" spc="-20" dirty="0">
                <a:solidFill>
                  <a:schemeClr val="bg1"/>
                </a:solidFill>
                <a:latin typeface="Times New Roman" panose="02020603050405020304" pitchFamily="18" charset="0"/>
                <a:cs typeface="Times New Roman" panose="02020603050405020304" pitchFamily="18" charset="0"/>
              </a:rPr>
              <a:t>  </a:t>
            </a:r>
            <a:r>
              <a:rPr lang="en-IN" b="1" spc="-45" dirty="0">
                <a:solidFill>
                  <a:schemeClr val="bg1"/>
                </a:solidFill>
                <a:latin typeface="Times New Roman" panose="02020603050405020304" pitchFamily="18" charset="0"/>
                <a:cs typeface="Times New Roman" panose="02020603050405020304" pitchFamily="18" charset="0"/>
              </a:rPr>
              <a:t>CSE,</a:t>
            </a:r>
            <a:r>
              <a:rPr lang="en-IN" b="1" spc="-190"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S</a:t>
            </a:r>
            <a:r>
              <a:rPr lang="en-IN" b="1" spc="30" dirty="0">
                <a:solidFill>
                  <a:schemeClr val="bg1"/>
                </a:solidFill>
                <a:latin typeface="Times New Roman" panose="02020603050405020304" pitchFamily="18" charset="0"/>
                <a:cs typeface="Times New Roman" panose="02020603050405020304" pitchFamily="18" charset="0"/>
              </a:rPr>
              <a:t>V</a:t>
            </a:r>
            <a:r>
              <a:rPr lang="en-IN" b="1" spc="-5" dirty="0">
                <a:solidFill>
                  <a:schemeClr val="bg1"/>
                </a:solidFill>
                <a:latin typeface="Times New Roman" panose="02020603050405020304" pitchFamily="18" charset="0"/>
                <a:cs typeface="Times New Roman" panose="02020603050405020304" pitchFamily="18" charset="0"/>
              </a:rPr>
              <a:t>IT</a:t>
            </a:r>
          </a:p>
        </p:txBody>
      </p:sp>
      <p:pic>
        <p:nvPicPr>
          <p:cNvPr id="7" name="Picture 6">
            <a:extLst>
              <a:ext uri="{FF2B5EF4-FFF2-40B4-BE49-F238E27FC236}">
                <a16:creationId xmlns:a16="http://schemas.microsoft.com/office/drawing/2014/main" id="{A86BC54E-DEE7-443F-9B6C-5EF5419A2B1E}"/>
              </a:ext>
            </a:extLst>
          </p:cNvPr>
          <p:cNvPicPr>
            <a:picLocks noChangeAspect="1"/>
          </p:cNvPicPr>
          <p:nvPr/>
        </p:nvPicPr>
        <p:blipFill>
          <a:blip r:embed="rId3"/>
          <a:srcRect l="1011" r="1020" b="-9290"/>
          <a:stretch>
            <a:fillRect/>
          </a:stretch>
        </p:blipFill>
        <p:spPr>
          <a:xfrm>
            <a:off x="1900644" y="4630782"/>
            <a:ext cx="7467600" cy="330023"/>
          </a:xfrm>
          <a:prstGeom prst="rect">
            <a:avLst/>
          </a:prstGeom>
        </p:spPr>
      </p:pic>
      <p:pic>
        <p:nvPicPr>
          <p:cNvPr id="14" name="Picture 13">
            <a:extLst>
              <a:ext uri="{FF2B5EF4-FFF2-40B4-BE49-F238E27FC236}">
                <a16:creationId xmlns:a16="http://schemas.microsoft.com/office/drawing/2014/main" id="{38B8B698-D96E-D817-1979-DAA9DC929515}"/>
              </a:ext>
            </a:extLst>
          </p:cNvPr>
          <p:cNvPicPr>
            <a:picLocks noChangeAspect="1"/>
          </p:cNvPicPr>
          <p:nvPr/>
        </p:nvPicPr>
        <p:blipFill>
          <a:blip r:embed="rId4"/>
          <a:srcRect t="6970"/>
          <a:stretch>
            <a:fillRect/>
          </a:stretch>
        </p:blipFill>
        <p:spPr>
          <a:xfrm>
            <a:off x="1905000" y="4925448"/>
            <a:ext cx="7467600" cy="256152"/>
          </a:xfrm>
          <a:prstGeom prst="rect">
            <a:avLst/>
          </a:prstGeom>
        </p:spPr>
      </p:pic>
      <p:pic>
        <p:nvPicPr>
          <p:cNvPr id="21" name="Picture 20">
            <a:extLst>
              <a:ext uri="{FF2B5EF4-FFF2-40B4-BE49-F238E27FC236}">
                <a16:creationId xmlns:a16="http://schemas.microsoft.com/office/drawing/2014/main" id="{FD47E532-EBB8-1083-7987-5F02464FC17E}"/>
              </a:ext>
            </a:extLst>
          </p:cNvPr>
          <p:cNvPicPr>
            <a:picLocks noChangeAspect="1"/>
          </p:cNvPicPr>
          <p:nvPr/>
        </p:nvPicPr>
        <p:blipFill>
          <a:blip r:embed="rId5"/>
          <a:stretch>
            <a:fillRect/>
          </a:stretch>
        </p:blipFill>
        <p:spPr>
          <a:xfrm>
            <a:off x="1905000" y="1036281"/>
            <a:ext cx="7467600" cy="396510"/>
          </a:xfrm>
          <a:prstGeom prst="rect">
            <a:avLst/>
          </a:prstGeom>
        </p:spPr>
      </p:pic>
      <p:sp>
        <p:nvSpPr>
          <p:cNvPr id="22" name="TextBox 21">
            <a:extLst>
              <a:ext uri="{FF2B5EF4-FFF2-40B4-BE49-F238E27FC236}">
                <a16:creationId xmlns:a16="http://schemas.microsoft.com/office/drawing/2014/main" id="{2D32DCCB-CC7D-1596-00EC-6B69E92D97E8}"/>
              </a:ext>
            </a:extLst>
          </p:cNvPr>
          <p:cNvSpPr txBox="1"/>
          <p:nvPr/>
        </p:nvSpPr>
        <p:spPr>
          <a:xfrm>
            <a:off x="4305300" y="5209401"/>
            <a:ext cx="3581400"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Figure: Training of NSL-KDD Dataset</a:t>
            </a:r>
            <a:endParaRPr lang="en-IN" sz="1200" dirty="0">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93CCF649-5B9F-67C8-9DA3-544A0BF9C968}"/>
              </a:ext>
            </a:extLst>
          </p:cNvPr>
          <p:cNvPicPr>
            <a:picLocks noChangeAspect="1"/>
          </p:cNvPicPr>
          <p:nvPr/>
        </p:nvPicPr>
        <p:blipFill>
          <a:blip r:embed="rId6"/>
          <a:srcRect t="1161"/>
          <a:stretch>
            <a:fillRect/>
          </a:stretch>
        </p:blipFill>
        <p:spPr>
          <a:xfrm>
            <a:off x="1896290" y="1434741"/>
            <a:ext cx="7476309" cy="3195917"/>
          </a:xfrm>
          <a:prstGeom prst="rect">
            <a:avLst/>
          </a:prstGeom>
        </p:spPr>
      </p:pic>
    </p:spTree>
    <p:extLst>
      <p:ext uri="{BB962C8B-B14F-4D97-AF65-F5344CB8AC3E}">
        <p14:creationId xmlns:p14="http://schemas.microsoft.com/office/powerpoint/2010/main" val="1005023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7A9C9-E57B-B0DB-0B67-ECA4A133334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33F460F-6EDB-9204-92D7-69A99DCFE5E4}"/>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5F5F06D4-8B44-ED06-5A97-578C9DD18F78}"/>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pic>
        <p:nvPicPr>
          <p:cNvPr id="9" name="object 9">
            <a:extLst>
              <a:ext uri="{FF2B5EF4-FFF2-40B4-BE49-F238E27FC236}">
                <a16:creationId xmlns:a16="http://schemas.microsoft.com/office/drawing/2014/main" id="{A9B1C309-566E-3690-A136-2DA7BBAFCA19}"/>
              </a:ext>
            </a:extLst>
          </p:cNvPr>
          <p:cNvPicPr/>
          <p:nvPr/>
        </p:nvPicPr>
        <p:blipFill>
          <a:blip r:embed="rId2" cstate="print"/>
          <a:stretch>
            <a:fillRect/>
          </a:stretch>
        </p:blipFill>
        <p:spPr>
          <a:xfrm>
            <a:off x="11115675" y="9526"/>
            <a:ext cx="1076325" cy="837144"/>
          </a:xfrm>
          <a:prstGeom prst="rect">
            <a:avLst/>
          </a:prstGeom>
        </p:spPr>
      </p:pic>
      <p:sp>
        <p:nvSpPr>
          <p:cNvPr id="11" name="object 11">
            <a:extLst>
              <a:ext uri="{FF2B5EF4-FFF2-40B4-BE49-F238E27FC236}">
                <a16:creationId xmlns:a16="http://schemas.microsoft.com/office/drawing/2014/main" id="{8B16C200-7031-636A-1DE5-E71E3CD82C56}"/>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sp>
        <p:nvSpPr>
          <p:cNvPr id="16" name="object 5">
            <a:extLst>
              <a:ext uri="{FF2B5EF4-FFF2-40B4-BE49-F238E27FC236}">
                <a16:creationId xmlns:a16="http://schemas.microsoft.com/office/drawing/2014/main" id="{0B23528F-C776-AACB-5DDE-F52B51F5658F}"/>
              </a:ext>
            </a:extLst>
          </p:cNvPr>
          <p:cNvSpPr/>
          <p:nvPr/>
        </p:nvSpPr>
        <p:spPr>
          <a:xfrm>
            <a:off x="0" y="-1055"/>
            <a:ext cx="9877425" cy="763056"/>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8" name="TextBox 17">
            <a:extLst>
              <a:ext uri="{FF2B5EF4-FFF2-40B4-BE49-F238E27FC236}">
                <a16:creationId xmlns:a16="http://schemas.microsoft.com/office/drawing/2014/main" id="{5203EB21-60EC-E9FD-876C-FD9F294F892B}"/>
              </a:ext>
            </a:extLst>
          </p:cNvPr>
          <p:cNvSpPr txBox="1"/>
          <p:nvPr/>
        </p:nvSpPr>
        <p:spPr>
          <a:xfrm>
            <a:off x="79850" y="122007"/>
            <a:ext cx="7058710"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CONCLUSION</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164C9D67-DD39-798D-5706-8E86CC98165C}"/>
              </a:ext>
            </a:extLst>
          </p:cNvPr>
          <p:cNvSpPr txBox="1"/>
          <p:nvPr/>
        </p:nvSpPr>
        <p:spPr>
          <a:xfrm>
            <a:off x="190500" y="1127358"/>
            <a:ext cx="11811000" cy="2806987"/>
          </a:xfrm>
          <a:prstGeom prst="rect">
            <a:avLst/>
          </a:prstGeom>
          <a:noFill/>
        </p:spPr>
        <p:txBody>
          <a:bodyPr wrap="square">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demonstrates the development of an AI-driven intrusion detection system using a hybrid Conv1D +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BiLSTM</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Through robust preprocessing, effective model training, and explainability with SHAP, the system can accurately detect various types of cyber attacks. The system ensures both high performance and transparency, while the planned deployment enables real-time monitoring of network traffic. Overall, this work highlights the potential of deep learning combined with explainable AI for enhancing cloud security in practical scenarios.</a:t>
            </a:r>
          </a:p>
        </p:txBody>
      </p:sp>
      <p:sp>
        <p:nvSpPr>
          <p:cNvPr id="7" name="Slide Number Placeholder 6">
            <a:extLst>
              <a:ext uri="{FF2B5EF4-FFF2-40B4-BE49-F238E27FC236}">
                <a16:creationId xmlns:a16="http://schemas.microsoft.com/office/drawing/2014/main" id="{55195F99-F19C-EE2C-B36C-DEF8AAFB6C1D}"/>
              </a:ext>
            </a:extLst>
          </p:cNvPr>
          <p:cNvSpPr>
            <a:spLocks noGrp="1"/>
          </p:cNvSpPr>
          <p:nvPr>
            <p:ph type="sldNum" sz="quarter" idx="7"/>
          </p:nvPr>
        </p:nvSpPr>
        <p:spPr>
          <a:xfrm>
            <a:off x="9067800" y="653133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12</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8" name="Footer Placeholder 11">
            <a:extLst>
              <a:ext uri="{FF2B5EF4-FFF2-40B4-BE49-F238E27FC236}">
                <a16:creationId xmlns:a16="http://schemas.microsoft.com/office/drawing/2014/main" id="{81A15E58-13B8-41B6-AA93-B4718A262A82}"/>
              </a:ext>
            </a:extLst>
          </p:cNvPr>
          <p:cNvSpPr>
            <a:spLocks noGrp="1"/>
          </p:cNvSpPr>
          <p:nvPr>
            <p:ph type="ftr" sz="quarter" idx="5"/>
          </p:nvPr>
        </p:nvSpPr>
        <p:spPr>
          <a:xfrm>
            <a:off x="78738" y="6547528"/>
            <a:ext cx="1978661" cy="269304"/>
          </a:xfrm>
        </p:spPr>
        <p:txBody>
          <a:bodyPr/>
          <a:lstStyle/>
          <a:p>
            <a:pPr marL="12700">
              <a:lnSpc>
                <a:spcPts val="2135"/>
              </a:lnSpc>
            </a:pPr>
            <a:r>
              <a:rPr lang="en-IN" b="1" spc="65" dirty="0">
                <a:solidFill>
                  <a:schemeClr val="bg1"/>
                </a:solidFill>
                <a:latin typeface="Times New Roman" panose="02020603050405020304" pitchFamily="18" charset="0"/>
                <a:cs typeface="Times New Roman" panose="02020603050405020304" pitchFamily="18" charset="0"/>
              </a:rPr>
              <a:t>D</a:t>
            </a:r>
            <a:r>
              <a:rPr lang="en-IN" b="1" spc="95" dirty="0">
                <a:solidFill>
                  <a:schemeClr val="bg1"/>
                </a:solidFill>
                <a:latin typeface="Times New Roman" panose="02020603050405020304" pitchFamily="18" charset="0"/>
                <a:cs typeface="Times New Roman" panose="02020603050405020304" pitchFamily="18" charset="0"/>
              </a:rPr>
              <a:t>e</a:t>
            </a:r>
            <a:r>
              <a:rPr lang="en-IN" b="1" spc="-165" dirty="0">
                <a:solidFill>
                  <a:schemeClr val="bg1"/>
                </a:solidFill>
                <a:latin typeface="Times New Roman" panose="02020603050405020304" pitchFamily="18" charset="0"/>
                <a:cs typeface="Times New Roman" panose="02020603050405020304" pitchFamily="18" charset="0"/>
              </a:rPr>
              <a:t>pt.</a:t>
            </a:r>
            <a:r>
              <a:rPr lang="en-IN" b="1" spc="-265"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o</a:t>
            </a:r>
            <a:r>
              <a:rPr lang="en-IN" b="1" spc="-215" dirty="0">
                <a:solidFill>
                  <a:schemeClr val="bg1"/>
                </a:solidFill>
                <a:latin typeface="Times New Roman" panose="02020603050405020304" pitchFamily="18" charset="0"/>
                <a:cs typeface="Times New Roman" panose="02020603050405020304" pitchFamily="18" charset="0"/>
              </a:rPr>
              <a:t>f</a:t>
            </a:r>
            <a:r>
              <a:rPr lang="en-IN" b="1" spc="-20" dirty="0">
                <a:solidFill>
                  <a:schemeClr val="bg1"/>
                </a:solidFill>
                <a:latin typeface="Times New Roman" panose="02020603050405020304" pitchFamily="18" charset="0"/>
                <a:cs typeface="Times New Roman" panose="02020603050405020304" pitchFamily="18" charset="0"/>
              </a:rPr>
              <a:t>  </a:t>
            </a:r>
            <a:r>
              <a:rPr lang="en-IN" b="1" spc="-45" dirty="0">
                <a:solidFill>
                  <a:schemeClr val="bg1"/>
                </a:solidFill>
                <a:latin typeface="Times New Roman" panose="02020603050405020304" pitchFamily="18" charset="0"/>
                <a:cs typeface="Times New Roman" panose="02020603050405020304" pitchFamily="18" charset="0"/>
              </a:rPr>
              <a:t>CSE,</a:t>
            </a:r>
            <a:r>
              <a:rPr lang="en-IN" b="1" spc="-190"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S</a:t>
            </a:r>
            <a:r>
              <a:rPr lang="en-IN" b="1" spc="30" dirty="0">
                <a:solidFill>
                  <a:schemeClr val="bg1"/>
                </a:solidFill>
                <a:latin typeface="Times New Roman" panose="02020603050405020304" pitchFamily="18" charset="0"/>
                <a:cs typeface="Times New Roman" panose="02020603050405020304" pitchFamily="18" charset="0"/>
              </a:rPr>
              <a:t>V</a:t>
            </a:r>
            <a:r>
              <a:rPr lang="en-IN" b="1" spc="-5" dirty="0">
                <a:solidFill>
                  <a:schemeClr val="bg1"/>
                </a:solidFill>
                <a:latin typeface="Times New Roman" panose="02020603050405020304" pitchFamily="18" charset="0"/>
                <a:cs typeface="Times New Roman" panose="02020603050405020304" pitchFamily="18" charset="0"/>
              </a:rPr>
              <a:t>IT</a:t>
            </a:r>
          </a:p>
        </p:txBody>
      </p:sp>
    </p:spTree>
    <p:extLst>
      <p:ext uri="{BB962C8B-B14F-4D97-AF65-F5344CB8AC3E}">
        <p14:creationId xmlns:p14="http://schemas.microsoft.com/office/powerpoint/2010/main" val="2331781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5267F-21CA-B9B7-BB41-64D94D1D627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3297D31-24CA-C8F9-ACB5-817FEB8C4A7D}"/>
              </a:ext>
            </a:extLst>
          </p:cNvPr>
          <p:cNvSpPr>
            <a:spLocks noGrp="1"/>
          </p:cNvSpPr>
          <p:nvPr>
            <p:ph type="body" idx="1"/>
          </p:nvPr>
        </p:nvSpPr>
        <p:spPr>
          <a:xfrm>
            <a:off x="152400" y="797627"/>
            <a:ext cx="11582400" cy="5326293"/>
          </a:xfrm>
        </p:spPr>
        <p:txBody>
          <a:bodyPr/>
          <a:lstStyle/>
          <a:p>
            <a:pPr marL="342900" indent="-342900" algn="just">
              <a:lnSpc>
                <a:spcPct val="150000"/>
              </a:lnSpc>
              <a:buFont typeface="+mj-lt"/>
              <a:buAutoNum type="arabicPeriod"/>
            </a:pPr>
            <a:r>
              <a:rPr lang="en-IN" sz="1800" b="0" dirty="0">
                <a:latin typeface="Times New Roman" panose="02020603050405020304" pitchFamily="18" charset="0"/>
                <a:cs typeface="Times New Roman" panose="02020603050405020304" pitchFamily="18" charset="0"/>
              </a:rPr>
              <a:t>Shifa </a:t>
            </a:r>
            <a:r>
              <a:rPr lang="en-IN" sz="1800" b="0" dirty="0" err="1">
                <a:latin typeface="Times New Roman" panose="02020603050405020304" pitchFamily="18" charset="0"/>
                <a:cs typeface="Times New Roman" panose="02020603050405020304" pitchFamily="18" charset="0"/>
              </a:rPr>
              <a:t>Shoukat</a:t>
            </a:r>
            <a:r>
              <a:rPr lang="en-IN" sz="1800" b="0" dirty="0">
                <a:latin typeface="Times New Roman" panose="02020603050405020304" pitchFamily="18" charset="0"/>
                <a:cs typeface="Times New Roman" panose="02020603050405020304" pitchFamily="18" charset="0"/>
              </a:rPr>
              <a:t>, </a:t>
            </a:r>
            <a:r>
              <a:rPr lang="en-IN" sz="1800" b="0" dirty="0" err="1">
                <a:latin typeface="Times New Roman" panose="02020603050405020304" pitchFamily="18" charset="0"/>
                <a:cs typeface="Times New Roman" panose="02020603050405020304" pitchFamily="18" charset="0"/>
              </a:rPr>
              <a:t>Tianhan</a:t>
            </a:r>
            <a:r>
              <a:rPr lang="en-IN" sz="1800" b="0" dirty="0">
                <a:latin typeface="Times New Roman" panose="02020603050405020304" pitchFamily="18" charset="0"/>
                <a:cs typeface="Times New Roman" panose="02020603050405020304" pitchFamily="18" charset="0"/>
              </a:rPr>
              <a:t> Gao, Danish Javeed, Muhammad Shahid Saeed, Muhammad Adil, “Trust my IDS: An explainable AI integrated deep learning-based transparent threat detection system for industrial networks”, </a:t>
            </a:r>
            <a:r>
              <a:rPr lang="en-IN" sz="1800" b="0" i="0" dirty="0">
                <a:latin typeface="Times New Roman" panose="02020603050405020304" pitchFamily="18" charset="0"/>
                <a:cs typeface="Times New Roman" panose="02020603050405020304" pitchFamily="18" charset="0"/>
              </a:rPr>
              <a:t>Computers &amp; Security,</a:t>
            </a:r>
            <a:r>
              <a:rPr lang="en-IN" sz="1800" b="0" dirty="0">
                <a:latin typeface="Times New Roman" panose="02020603050405020304" pitchFamily="18" charset="0"/>
                <a:cs typeface="Times New Roman" panose="02020603050405020304" pitchFamily="18" charset="0"/>
              </a:rPr>
              <a:t> Volume 149, Article Number 104191, 2025.</a:t>
            </a:r>
          </a:p>
          <a:p>
            <a:pPr marL="342900" indent="-342900" algn="just">
              <a:lnSpc>
                <a:spcPct val="150000"/>
              </a:lnSpc>
              <a:buFont typeface="+mj-lt"/>
              <a:buAutoNum type="arabicPeriod"/>
            </a:pPr>
            <a:r>
              <a:rPr lang="en-US" sz="1800" dirty="0">
                <a:latin typeface="Times New Roman"/>
                <a:cs typeface="Times New Roman"/>
              </a:rPr>
              <a:t>Will Serrano, “</a:t>
            </a:r>
            <a:r>
              <a:rPr lang="en-US" sz="1800" dirty="0" err="1">
                <a:latin typeface="Times New Roman"/>
                <a:cs typeface="Times New Roman"/>
              </a:rPr>
              <a:t>CyberAIBot</a:t>
            </a:r>
            <a:r>
              <a:rPr lang="en-US" sz="1800" dirty="0">
                <a:latin typeface="Times New Roman"/>
                <a:cs typeface="Times New Roman"/>
              </a:rPr>
              <a:t>: Artificial Intelligence in an intrusion detection system for </a:t>
            </a:r>
            <a:r>
              <a:rPr lang="en-US" sz="1800" dirty="0" err="1">
                <a:latin typeface="Times New Roman"/>
                <a:cs typeface="Times New Roman"/>
              </a:rPr>
              <a:t>CyberSecurity</a:t>
            </a:r>
            <a:r>
              <a:rPr lang="en-US" sz="1800" dirty="0">
                <a:latin typeface="Times New Roman"/>
                <a:cs typeface="Times New Roman"/>
              </a:rPr>
              <a:t> in the IoT”, Future Generation Computer Systems, Volume 166, Article Number 107543, 2025</a:t>
            </a:r>
          </a:p>
          <a:p>
            <a:pPr marL="342900" indent="-342900" algn="just">
              <a:lnSpc>
                <a:spcPct val="150000"/>
              </a:lnSpc>
              <a:buFont typeface="+mj-lt"/>
              <a:buAutoNum type="arabicPeriod"/>
            </a:pPr>
            <a:r>
              <a:rPr lang="en-IN" sz="1800" b="0" dirty="0">
                <a:latin typeface="Times New Roman" panose="02020603050405020304" pitchFamily="18" charset="0"/>
                <a:cs typeface="Times New Roman" panose="02020603050405020304" pitchFamily="18" charset="0"/>
              </a:rPr>
              <a:t>R</a:t>
            </a:r>
            <a:r>
              <a:rPr lang="en-IN" sz="1800" b="0" i="0" dirty="0">
                <a:latin typeface="Times New Roman" panose="02020603050405020304" pitchFamily="18" charset="0"/>
                <a:cs typeface="Times New Roman" panose="02020603050405020304" pitchFamily="18" charset="0"/>
              </a:rPr>
              <a:t>amkumar </a:t>
            </a:r>
            <a:r>
              <a:rPr lang="en-IN" sz="1800" b="0" i="0" dirty="0" err="1">
                <a:latin typeface="Times New Roman" panose="02020603050405020304" pitchFamily="18" charset="0"/>
                <a:cs typeface="Times New Roman" panose="02020603050405020304" pitchFamily="18" charset="0"/>
              </a:rPr>
              <a:t>Devendiran</a:t>
            </a:r>
            <a:r>
              <a:rPr lang="en-IN" sz="1800" b="0" i="0" dirty="0">
                <a:latin typeface="Times New Roman" panose="02020603050405020304" pitchFamily="18" charset="0"/>
                <a:cs typeface="Times New Roman" panose="02020603050405020304" pitchFamily="18" charset="0"/>
              </a:rPr>
              <a:t>, Anil V </a:t>
            </a:r>
            <a:r>
              <a:rPr lang="en-IN" sz="1800" b="0" i="0" dirty="0" err="1">
                <a:latin typeface="Times New Roman" panose="02020603050405020304" pitchFamily="18" charset="0"/>
                <a:cs typeface="Times New Roman" panose="02020603050405020304" pitchFamily="18" charset="0"/>
              </a:rPr>
              <a:t>Turukmane</a:t>
            </a:r>
            <a:r>
              <a:rPr lang="en-IN" sz="1800" b="0" i="0" dirty="0">
                <a:latin typeface="Times New Roman" panose="02020603050405020304" pitchFamily="18" charset="0"/>
                <a:cs typeface="Times New Roman" panose="02020603050405020304" pitchFamily="18" charset="0"/>
              </a:rPr>
              <a:t>, “</a:t>
            </a:r>
            <a:r>
              <a:rPr lang="en-IN" sz="1800" b="0" i="0" dirty="0" err="1">
                <a:latin typeface="Times New Roman" panose="02020603050405020304" pitchFamily="18" charset="0"/>
                <a:cs typeface="Times New Roman" panose="02020603050405020304" pitchFamily="18" charset="0"/>
              </a:rPr>
              <a:t>Dugat</a:t>
            </a:r>
            <a:r>
              <a:rPr lang="en-IN" sz="1800" b="0" i="0" dirty="0">
                <a:latin typeface="Times New Roman" panose="02020603050405020304" pitchFamily="18" charset="0"/>
                <a:cs typeface="Times New Roman" panose="02020603050405020304" pitchFamily="18" charset="0"/>
              </a:rPr>
              <a:t>-LSTM: Deep learning based network intrusion detection system using chaotic optimization strategy”, Expert Systems With Applications, Volume 245, Article Number 123027, 2024</a:t>
            </a:r>
            <a:r>
              <a:rPr lang="en-IN" sz="1800" b="0" dirty="0">
                <a:latin typeface="Times New Roman" panose="02020603050405020304" pitchFamily="18" charset="0"/>
                <a:cs typeface="Times New Roman" panose="02020603050405020304" pitchFamily="18" charset="0"/>
              </a:rPr>
              <a:t>.</a:t>
            </a:r>
          </a:p>
          <a:p>
            <a:pPr marL="342900" indent="-342900" algn="just">
              <a:lnSpc>
                <a:spcPct val="150000"/>
              </a:lnSpc>
              <a:buFont typeface="+mj-lt"/>
              <a:buAutoNum type="arabicPeriod"/>
            </a:pPr>
            <a:r>
              <a:rPr lang="en-IN" sz="1800" b="0" i="0" dirty="0">
                <a:latin typeface="Times New Roman"/>
                <a:cs typeface="Times New Roman"/>
              </a:rPr>
              <a:t>Amol D. </a:t>
            </a:r>
            <a:r>
              <a:rPr lang="en-IN" sz="1800" b="0" i="0" dirty="0" err="1">
                <a:latin typeface="Times New Roman"/>
                <a:cs typeface="Times New Roman"/>
              </a:rPr>
              <a:t>Vibhute</a:t>
            </a:r>
            <a:r>
              <a:rPr lang="en-IN" sz="1800" b="0" i="0" dirty="0">
                <a:latin typeface="Times New Roman"/>
                <a:cs typeface="Times New Roman"/>
              </a:rPr>
              <a:t>, Vikram </a:t>
            </a:r>
            <a:r>
              <a:rPr lang="en-IN" sz="1800" b="0" i="0" dirty="0" err="1">
                <a:latin typeface="Times New Roman"/>
                <a:cs typeface="Times New Roman"/>
              </a:rPr>
              <a:t>Nakum</a:t>
            </a:r>
            <a:r>
              <a:rPr lang="en-IN" sz="1800" b="0" i="0" dirty="0">
                <a:latin typeface="Times New Roman"/>
                <a:cs typeface="Times New Roman"/>
              </a:rPr>
              <a:t>, “Deep learning-based network anomaly detection and classification in an imbalanced cloud environment”, Procedia Computer Science, Volume 232, pp. 1636–1645, 2024</a:t>
            </a:r>
          </a:p>
          <a:p>
            <a:pPr marL="342900" indent="-342900" algn="just">
              <a:lnSpc>
                <a:spcPct val="150000"/>
              </a:lnSpc>
              <a:buFont typeface="+mj-lt"/>
              <a:buAutoNum type="arabicPeriod"/>
            </a:pPr>
            <a:r>
              <a:rPr lang="en-IN" sz="1800" b="0" dirty="0">
                <a:latin typeface="Times New Roman"/>
                <a:cs typeface="Times New Roman"/>
              </a:rPr>
              <a:t>F</a:t>
            </a:r>
            <a:r>
              <a:rPr lang="en-IN" sz="1800" i="0" dirty="0">
                <a:latin typeface="Times New Roman"/>
                <a:cs typeface="Times New Roman"/>
              </a:rPr>
              <a:t>atimah </a:t>
            </a:r>
            <a:r>
              <a:rPr lang="en-IN" sz="1800" i="0" dirty="0" err="1">
                <a:latin typeface="Times New Roman"/>
                <a:cs typeface="Times New Roman"/>
              </a:rPr>
              <a:t>Alhayan</a:t>
            </a:r>
            <a:r>
              <a:rPr lang="en-IN" sz="1800" i="0" dirty="0">
                <a:latin typeface="Times New Roman"/>
                <a:cs typeface="Times New Roman"/>
              </a:rPr>
              <a:t>, Nuha </a:t>
            </a:r>
            <a:r>
              <a:rPr lang="en-IN" sz="1800" i="0" dirty="0" err="1">
                <a:latin typeface="Times New Roman"/>
                <a:cs typeface="Times New Roman"/>
              </a:rPr>
              <a:t>Alruwais</a:t>
            </a:r>
            <a:r>
              <a:rPr lang="en-IN" sz="1800" i="0" dirty="0">
                <a:latin typeface="Times New Roman"/>
                <a:cs typeface="Times New Roman"/>
              </a:rPr>
              <a:t>, Mohammad </a:t>
            </a:r>
            <a:r>
              <a:rPr lang="en-IN" sz="1800" i="0" dirty="0" err="1">
                <a:latin typeface="Times New Roman"/>
                <a:cs typeface="Times New Roman"/>
              </a:rPr>
              <a:t>Alamgeer</a:t>
            </a:r>
            <a:r>
              <a:rPr lang="en-IN" sz="1800" i="0" dirty="0">
                <a:latin typeface="Times New Roman"/>
                <a:cs typeface="Times New Roman"/>
              </a:rPr>
              <a:t>, Abdullah M. </a:t>
            </a:r>
            <a:r>
              <a:rPr lang="en-IN" sz="1800" i="0" dirty="0" err="1">
                <a:latin typeface="Times New Roman"/>
                <a:cs typeface="Times New Roman"/>
              </a:rPr>
              <a:t>Alashjaee</a:t>
            </a:r>
            <a:r>
              <a:rPr lang="en-IN" sz="1800" i="0" dirty="0">
                <a:latin typeface="Times New Roman"/>
                <a:cs typeface="Times New Roman"/>
              </a:rPr>
              <a:t>, Monir Abdullah, Alaa O. </a:t>
            </a:r>
            <a:r>
              <a:rPr lang="en-IN" sz="1800" i="0" dirty="0" err="1">
                <a:latin typeface="Times New Roman"/>
                <a:cs typeface="Times New Roman"/>
              </a:rPr>
              <a:t>Khadidos</a:t>
            </a:r>
            <a:r>
              <a:rPr lang="en-IN" sz="1800" i="0" dirty="0">
                <a:latin typeface="Times New Roman"/>
                <a:cs typeface="Times New Roman"/>
              </a:rPr>
              <a:t>, Fouad </a:t>
            </a:r>
            <a:r>
              <a:rPr lang="en-IN" sz="1800" i="0" dirty="0" err="1">
                <a:latin typeface="Times New Roman"/>
                <a:cs typeface="Times New Roman"/>
              </a:rPr>
              <a:t>Shoie</a:t>
            </a:r>
            <a:r>
              <a:rPr lang="en-IN" sz="1800" i="0" dirty="0">
                <a:latin typeface="Times New Roman"/>
                <a:cs typeface="Times New Roman"/>
              </a:rPr>
              <a:t> </a:t>
            </a:r>
            <a:r>
              <a:rPr lang="en-IN" sz="1800" i="0" dirty="0" err="1">
                <a:latin typeface="Times New Roman"/>
                <a:cs typeface="Times New Roman"/>
              </a:rPr>
              <a:t>Alallah</a:t>
            </a:r>
            <a:r>
              <a:rPr lang="en-IN" sz="1800" i="0" dirty="0">
                <a:latin typeface="Times New Roman"/>
                <a:cs typeface="Times New Roman"/>
              </a:rPr>
              <a:t>, </a:t>
            </a:r>
            <a:r>
              <a:rPr lang="en-IN" sz="1800" i="0" dirty="0" err="1">
                <a:latin typeface="Times New Roman"/>
                <a:cs typeface="Times New Roman"/>
              </a:rPr>
              <a:t>Abdulrhman</a:t>
            </a:r>
            <a:r>
              <a:rPr lang="en-IN" sz="1800" i="0" dirty="0">
                <a:latin typeface="Times New Roman"/>
                <a:cs typeface="Times New Roman"/>
              </a:rPr>
              <a:t> </a:t>
            </a:r>
            <a:r>
              <a:rPr lang="en-IN" sz="1800" i="0" dirty="0" err="1">
                <a:latin typeface="Times New Roman"/>
                <a:cs typeface="Times New Roman"/>
              </a:rPr>
              <a:t>Alshareef</a:t>
            </a:r>
            <a:r>
              <a:rPr lang="en-IN" sz="1800" i="0" dirty="0">
                <a:latin typeface="Times New Roman"/>
                <a:cs typeface="Times New Roman"/>
              </a:rPr>
              <a:t>, “Design of advanced intrusion detection in cybersecurity using ensemble of deep learning models with an improved beluga whale optimization algorithm”, Alexandria Engineering Journal, Volume 121, pp. 90–102, 2025</a:t>
            </a:r>
          </a:p>
          <a:p>
            <a:pPr marL="342900" indent="-342900" algn="just">
              <a:lnSpc>
                <a:spcPct val="150000"/>
              </a:lnSpc>
              <a:buFont typeface="+mj-lt"/>
              <a:buAutoNum type="arabicPeriod"/>
            </a:pPr>
            <a:endParaRPr lang="en-IN" dirty="0"/>
          </a:p>
          <a:p>
            <a:pPr marL="342900" indent="-342900" algn="just">
              <a:lnSpc>
                <a:spcPct val="150000"/>
              </a:lnSpc>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endParaRPr lang="en-IN" dirty="0">
              <a:latin typeface="Times New Roman" panose="02020603050405020304" pitchFamily="18" charset="0"/>
              <a:cs typeface="Times New Roman" panose="02020603050405020304" pitchFamily="18" charset="0"/>
            </a:endParaRPr>
          </a:p>
        </p:txBody>
      </p:sp>
      <p:pic>
        <p:nvPicPr>
          <p:cNvPr id="5" name="object 9">
            <a:extLst>
              <a:ext uri="{FF2B5EF4-FFF2-40B4-BE49-F238E27FC236}">
                <a16:creationId xmlns:a16="http://schemas.microsoft.com/office/drawing/2014/main" id="{ACD94F58-A1FA-1B36-AD08-6C1DB20FEED3}"/>
              </a:ext>
            </a:extLst>
          </p:cNvPr>
          <p:cNvPicPr/>
          <p:nvPr/>
        </p:nvPicPr>
        <p:blipFill>
          <a:blip r:embed="rId2" cstate="print"/>
          <a:stretch>
            <a:fillRect/>
          </a:stretch>
        </p:blipFill>
        <p:spPr>
          <a:xfrm>
            <a:off x="11115675" y="9525"/>
            <a:ext cx="1076325" cy="847725"/>
          </a:xfrm>
          <a:prstGeom prst="rect">
            <a:avLst/>
          </a:prstGeom>
        </p:spPr>
      </p:pic>
      <p:sp>
        <p:nvSpPr>
          <p:cNvPr id="6" name="object 5">
            <a:extLst>
              <a:ext uri="{FF2B5EF4-FFF2-40B4-BE49-F238E27FC236}">
                <a16:creationId xmlns:a16="http://schemas.microsoft.com/office/drawing/2014/main" id="{251F944E-3B6B-2EB1-6B6A-889BD167DF98}"/>
              </a:ext>
            </a:extLst>
          </p:cNvPr>
          <p:cNvSpPr/>
          <p:nvPr/>
        </p:nvSpPr>
        <p:spPr>
          <a:xfrm>
            <a:off x="-12771" y="0"/>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7" name="TextBox 6">
            <a:extLst>
              <a:ext uri="{FF2B5EF4-FFF2-40B4-BE49-F238E27FC236}">
                <a16:creationId xmlns:a16="http://schemas.microsoft.com/office/drawing/2014/main" id="{72C851C6-2AAC-BC8F-032E-B46ADD08F1F5}"/>
              </a:ext>
            </a:extLst>
          </p:cNvPr>
          <p:cNvSpPr txBox="1"/>
          <p:nvPr/>
        </p:nvSpPr>
        <p:spPr>
          <a:xfrm>
            <a:off x="104090" y="152400"/>
            <a:ext cx="7058710"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REFERENCES</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2" name="object 11">
            <a:extLst>
              <a:ext uri="{FF2B5EF4-FFF2-40B4-BE49-F238E27FC236}">
                <a16:creationId xmlns:a16="http://schemas.microsoft.com/office/drawing/2014/main" id="{9A08D02C-77BF-080F-6A0D-04D1978082E6}"/>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35F61579-DBE2-010B-72E6-7D1C27B86C22}"/>
              </a:ext>
            </a:extLst>
          </p:cNvPr>
          <p:cNvSpPr>
            <a:spLocks noGrp="1"/>
          </p:cNvSpPr>
          <p:nvPr>
            <p:ph type="sldNum" sz="quarter" idx="7"/>
          </p:nvPr>
        </p:nvSpPr>
        <p:spPr>
          <a:xfrm>
            <a:off x="9067800" y="6551230"/>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13</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2" name="Footer Placeholder 11">
            <a:extLst>
              <a:ext uri="{FF2B5EF4-FFF2-40B4-BE49-F238E27FC236}">
                <a16:creationId xmlns:a16="http://schemas.microsoft.com/office/drawing/2014/main" id="{DECE411D-F1F2-4D1B-FF8C-238A6C29D2C5}"/>
              </a:ext>
            </a:extLst>
          </p:cNvPr>
          <p:cNvSpPr>
            <a:spLocks noGrp="1"/>
          </p:cNvSpPr>
          <p:nvPr>
            <p:ph type="ftr" sz="quarter" idx="5"/>
          </p:nvPr>
        </p:nvSpPr>
        <p:spPr>
          <a:xfrm>
            <a:off x="78738" y="6547528"/>
            <a:ext cx="1978661" cy="269304"/>
          </a:xfrm>
        </p:spPr>
        <p:txBody>
          <a:bodyPr/>
          <a:lstStyle/>
          <a:p>
            <a:pPr marL="12700">
              <a:lnSpc>
                <a:spcPts val="2135"/>
              </a:lnSpc>
            </a:pPr>
            <a:r>
              <a:rPr lang="en-IN" b="1" spc="65" dirty="0">
                <a:solidFill>
                  <a:schemeClr val="bg1"/>
                </a:solidFill>
                <a:latin typeface="Times New Roman" panose="02020603050405020304" pitchFamily="18" charset="0"/>
                <a:cs typeface="Times New Roman" panose="02020603050405020304" pitchFamily="18" charset="0"/>
              </a:rPr>
              <a:t>D</a:t>
            </a:r>
            <a:r>
              <a:rPr lang="en-IN" b="1" spc="95" dirty="0">
                <a:solidFill>
                  <a:schemeClr val="bg1"/>
                </a:solidFill>
                <a:latin typeface="Times New Roman" panose="02020603050405020304" pitchFamily="18" charset="0"/>
                <a:cs typeface="Times New Roman" panose="02020603050405020304" pitchFamily="18" charset="0"/>
              </a:rPr>
              <a:t>e</a:t>
            </a:r>
            <a:r>
              <a:rPr lang="en-IN" b="1" spc="-165" dirty="0">
                <a:solidFill>
                  <a:schemeClr val="bg1"/>
                </a:solidFill>
                <a:latin typeface="Times New Roman" panose="02020603050405020304" pitchFamily="18" charset="0"/>
                <a:cs typeface="Times New Roman" panose="02020603050405020304" pitchFamily="18" charset="0"/>
              </a:rPr>
              <a:t>pt.</a:t>
            </a:r>
            <a:r>
              <a:rPr lang="en-IN" b="1" spc="-265"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o</a:t>
            </a:r>
            <a:r>
              <a:rPr lang="en-IN" b="1" spc="-215" dirty="0">
                <a:solidFill>
                  <a:schemeClr val="bg1"/>
                </a:solidFill>
                <a:latin typeface="Times New Roman" panose="02020603050405020304" pitchFamily="18" charset="0"/>
                <a:cs typeface="Times New Roman" panose="02020603050405020304" pitchFamily="18" charset="0"/>
              </a:rPr>
              <a:t>f</a:t>
            </a:r>
            <a:r>
              <a:rPr lang="en-IN" b="1" spc="-20" dirty="0">
                <a:solidFill>
                  <a:schemeClr val="bg1"/>
                </a:solidFill>
                <a:latin typeface="Times New Roman" panose="02020603050405020304" pitchFamily="18" charset="0"/>
                <a:cs typeface="Times New Roman" panose="02020603050405020304" pitchFamily="18" charset="0"/>
              </a:rPr>
              <a:t>  </a:t>
            </a:r>
            <a:r>
              <a:rPr lang="en-IN" b="1" spc="-45" dirty="0">
                <a:solidFill>
                  <a:schemeClr val="bg1"/>
                </a:solidFill>
                <a:latin typeface="Times New Roman" panose="02020603050405020304" pitchFamily="18" charset="0"/>
                <a:cs typeface="Times New Roman" panose="02020603050405020304" pitchFamily="18" charset="0"/>
              </a:rPr>
              <a:t>CSE,</a:t>
            </a:r>
            <a:r>
              <a:rPr lang="en-IN" b="1" spc="-190"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S</a:t>
            </a:r>
            <a:r>
              <a:rPr lang="en-IN" b="1" spc="30" dirty="0">
                <a:solidFill>
                  <a:schemeClr val="bg1"/>
                </a:solidFill>
                <a:latin typeface="Times New Roman" panose="02020603050405020304" pitchFamily="18" charset="0"/>
                <a:cs typeface="Times New Roman" panose="02020603050405020304" pitchFamily="18" charset="0"/>
              </a:rPr>
              <a:t>V</a:t>
            </a:r>
            <a:r>
              <a:rPr lang="en-IN" b="1" spc="-5" dirty="0">
                <a:solidFill>
                  <a:schemeClr val="bg1"/>
                </a:solidFill>
                <a:latin typeface="Times New Roman" panose="02020603050405020304" pitchFamily="18" charset="0"/>
                <a:cs typeface="Times New Roman" panose="02020603050405020304" pitchFamily="18" charset="0"/>
              </a:rPr>
              <a:t>IT</a:t>
            </a:r>
          </a:p>
        </p:txBody>
      </p:sp>
    </p:spTree>
    <p:extLst>
      <p:ext uri="{BB962C8B-B14F-4D97-AF65-F5344CB8AC3E}">
        <p14:creationId xmlns:p14="http://schemas.microsoft.com/office/powerpoint/2010/main" val="1593637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C7E34-D88D-D4CA-F3C1-BFAFCB44EF88}"/>
            </a:ext>
          </a:extLst>
        </p:cNvPr>
        <p:cNvGrpSpPr/>
        <p:nvPr/>
      </p:nvGrpSpPr>
      <p:grpSpPr>
        <a:xfrm>
          <a:off x="0" y="0"/>
          <a:ext cx="0" cy="0"/>
          <a:chOff x="0" y="0"/>
          <a:chExt cx="0" cy="0"/>
        </a:xfrm>
      </p:grpSpPr>
      <p:pic>
        <p:nvPicPr>
          <p:cNvPr id="5" name="object 9">
            <a:extLst>
              <a:ext uri="{FF2B5EF4-FFF2-40B4-BE49-F238E27FC236}">
                <a16:creationId xmlns:a16="http://schemas.microsoft.com/office/drawing/2014/main" id="{8C1CA7FD-46CE-1A82-71B2-3C1DF56767FF}"/>
              </a:ext>
            </a:extLst>
          </p:cNvPr>
          <p:cNvPicPr/>
          <p:nvPr/>
        </p:nvPicPr>
        <p:blipFill>
          <a:blip r:embed="rId2" cstate="print"/>
          <a:stretch>
            <a:fillRect/>
          </a:stretch>
        </p:blipFill>
        <p:spPr>
          <a:xfrm>
            <a:off x="11115675" y="9525"/>
            <a:ext cx="1076325" cy="868593"/>
          </a:xfrm>
          <a:prstGeom prst="rect">
            <a:avLst/>
          </a:prstGeom>
        </p:spPr>
      </p:pic>
      <p:sp>
        <p:nvSpPr>
          <p:cNvPr id="6" name="object 5">
            <a:extLst>
              <a:ext uri="{FF2B5EF4-FFF2-40B4-BE49-F238E27FC236}">
                <a16:creationId xmlns:a16="http://schemas.microsoft.com/office/drawing/2014/main" id="{256B7A8B-EC63-96B3-E6CF-9E574A45D15B}"/>
              </a:ext>
            </a:extLst>
          </p:cNvPr>
          <p:cNvSpPr/>
          <p:nvPr/>
        </p:nvSpPr>
        <p:spPr>
          <a:xfrm>
            <a:off x="-12771" y="0"/>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7" name="TextBox 6">
            <a:extLst>
              <a:ext uri="{FF2B5EF4-FFF2-40B4-BE49-F238E27FC236}">
                <a16:creationId xmlns:a16="http://schemas.microsoft.com/office/drawing/2014/main" id="{0249E6C2-F1E7-FB17-BA01-9DCBF6EF7D67}"/>
              </a:ext>
            </a:extLst>
          </p:cNvPr>
          <p:cNvSpPr txBox="1"/>
          <p:nvPr/>
        </p:nvSpPr>
        <p:spPr>
          <a:xfrm>
            <a:off x="104090" y="152400"/>
            <a:ext cx="7058710"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REFERENCES</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2" name="object 11">
            <a:extLst>
              <a:ext uri="{FF2B5EF4-FFF2-40B4-BE49-F238E27FC236}">
                <a16:creationId xmlns:a16="http://schemas.microsoft.com/office/drawing/2014/main" id="{476FD81B-9C8A-02C1-85D4-CB3DB7C7F4FF}"/>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sp>
        <p:nvSpPr>
          <p:cNvPr id="10" name="Text Placeholder 9">
            <a:extLst>
              <a:ext uri="{FF2B5EF4-FFF2-40B4-BE49-F238E27FC236}">
                <a16:creationId xmlns:a16="http://schemas.microsoft.com/office/drawing/2014/main" id="{7C54BA33-30F9-CC3A-017E-2FA50E631ACE}"/>
              </a:ext>
            </a:extLst>
          </p:cNvPr>
          <p:cNvSpPr>
            <a:spLocks noGrp="1"/>
          </p:cNvSpPr>
          <p:nvPr>
            <p:ph type="body" idx="1"/>
          </p:nvPr>
        </p:nvSpPr>
        <p:spPr>
          <a:xfrm>
            <a:off x="147637" y="944376"/>
            <a:ext cx="11506200" cy="5678478"/>
          </a:xfrm>
        </p:spPr>
        <p:txBody>
          <a:bodyPr/>
          <a:lstStyle/>
          <a:p>
            <a:pPr marL="342900" indent="-342900" algn="just">
              <a:lnSpc>
                <a:spcPct val="150000"/>
              </a:lnSpc>
              <a:buFont typeface="+mj-lt"/>
              <a:buAutoNum type="arabicPeriod" startAt="6"/>
            </a:pPr>
            <a:r>
              <a:rPr lang="en-IN" dirty="0">
                <a:latin typeface="Times New Roman" panose="02020603050405020304" pitchFamily="18" charset="0"/>
                <a:cs typeface="Times New Roman" panose="02020603050405020304" pitchFamily="18" charset="0"/>
              </a:rPr>
              <a:t>Prasanth, B. Karthikeyan, S. R. Gupta, “An Intrusion Detection System over IoT Data Streams Using Explainable Deep Learning”, Sensors, vol. 25, no. 3, pp. 847, 2025.</a:t>
            </a:r>
          </a:p>
          <a:p>
            <a:pPr marL="342900" indent="-342900" algn="just">
              <a:lnSpc>
                <a:spcPct val="150000"/>
              </a:lnSpc>
              <a:buFont typeface="+mj-lt"/>
              <a:buAutoNum type="arabicPeriod" startAt="6"/>
            </a:pPr>
            <a:r>
              <a:rPr lang="en-US" dirty="0">
                <a:latin typeface="Times New Roman" panose="02020603050405020304" pitchFamily="18" charset="0"/>
                <a:cs typeface="Times New Roman" panose="02020603050405020304" pitchFamily="18" charset="0"/>
              </a:rPr>
              <a:t>Ahmed, J. Lee, M. Hassan, “Explainable Deep Learning Approach for Advanced Persistent Threats Detection”, Artificial Intelligence Review, vol. 37, no. 2, pp. 211-228, 2024.</a:t>
            </a:r>
          </a:p>
          <a:p>
            <a:pPr marL="342900" indent="-342900" algn="just">
              <a:lnSpc>
                <a:spcPct val="150000"/>
              </a:lnSpc>
              <a:buFont typeface="+mj-lt"/>
              <a:buAutoNum type="arabicPeriod" startAt="6"/>
            </a:pPr>
            <a:r>
              <a:rPr lang="en-IN" dirty="0">
                <a:latin typeface="Times New Roman" panose="02020603050405020304" pitchFamily="18" charset="0"/>
                <a:cs typeface="Times New Roman" panose="02020603050405020304" pitchFamily="18" charset="0"/>
              </a:rPr>
              <a:t>L. Chen, Y. Wang, X. Li, “A Scalable Network Intrusion Detection System Using Bi-LSTM and CNN”, IEEE Conference on Cybersecurity, pp. 119-130, 2025.</a:t>
            </a:r>
          </a:p>
          <a:p>
            <a:pPr marL="342900" indent="-342900" algn="just">
              <a:lnSpc>
                <a:spcPct val="150000"/>
              </a:lnSpc>
              <a:buFont typeface="+mj-lt"/>
              <a:buAutoNum type="arabicPeriod" startAt="6"/>
            </a:pPr>
            <a:r>
              <a:rPr lang="en-IN" i="0" dirty="0">
                <a:latin typeface="Times New Roman"/>
                <a:cs typeface="Times New Roman"/>
              </a:rPr>
              <a:t>Muhammad Sajid, Kaleem Razzaq Malik, Ahmad </a:t>
            </a:r>
            <a:r>
              <a:rPr lang="en-IN" i="0" dirty="0" err="1">
                <a:latin typeface="Times New Roman"/>
                <a:cs typeface="Times New Roman"/>
              </a:rPr>
              <a:t>Almogren</a:t>
            </a:r>
            <a:r>
              <a:rPr lang="en-IN" i="0" dirty="0">
                <a:latin typeface="Times New Roman"/>
                <a:cs typeface="Times New Roman"/>
              </a:rPr>
              <a:t>, </a:t>
            </a:r>
            <a:r>
              <a:rPr lang="en-IN" i="0" dirty="0" err="1">
                <a:latin typeface="Times New Roman"/>
                <a:cs typeface="Times New Roman"/>
              </a:rPr>
              <a:t>Tauqeer</a:t>
            </a:r>
            <a:r>
              <a:rPr lang="en-IN" i="0" dirty="0">
                <a:latin typeface="Times New Roman"/>
                <a:cs typeface="Times New Roman"/>
              </a:rPr>
              <a:t> Safdar Malik, Ali Haider Khan, Jawad Tanveer, Ateeq Ur Rehman, “Enhancing intrusion detection: a hybrid machine and deep learning approach”, Journal of Cloud Computing: Advances, Systems and Applications, Volume 13, Article Number 123, 2024</a:t>
            </a:r>
            <a:endParaRPr lang="en-IN" dirty="0">
              <a:latin typeface="Times New Roman"/>
              <a:cs typeface="Times New Roman"/>
            </a:endParaRPr>
          </a:p>
          <a:p>
            <a:pPr marL="342900" indent="-342900" algn="just">
              <a:lnSpc>
                <a:spcPct val="150000"/>
              </a:lnSpc>
              <a:buFont typeface="+mj-lt"/>
              <a:buAutoNum type="arabicPeriod" startAt="6"/>
            </a:pPr>
            <a:r>
              <a:rPr lang="en-IN" dirty="0">
                <a:latin typeface="Times New Roman" panose="02020603050405020304" pitchFamily="18" charset="0"/>
                <a:cs typeface="Times New Roman" panose="02020603050405020304" pitchFamily="18" charset="0"/>
              </a:rPr>
              <a:t>Okechukwu Clement </a:t>
            </a:r>
            <a:r>
              <a:rPr lang="en-IN" dirty="0" err="1">
                <a:latin typeface="Times New Roman" panose="02020603050405020304" pitchFamily="18" charset="0"/>
                <a:cs typeface="Times New Roman" panose="02020603050405020304" pitchFamily="18" charset="0"/>
              </a:rPr>
              <a:t>Agomuo</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Agomuo</a:t>
            </a:r>
            <a:r>
              <a:rPr lang="en-IN" dirty="0">
                <a:latin typeface="Times New Roman" panose="02020603050405020304" pitchFamily="18" charset="0"/>
                <a:cs typeface="Times New Roman" panose="02020603050405020304" pitchFamily="18" charset="0"/>
              </a:rPr>
              <a:t> Kingsley Uzoma, Zohaib Khan, </a:t>
            </a:r>
            <a:r>
              <a:rPr lang="en-IN" dirty="0" err="1">
                <a:latin typeface="Times New Roman" panose="02020603050405020304" pitchFamily="18" charset="0"/>
                <a:cs typeface="Times New Roman" panose="02020603050405020304" pitchFamily="18" charset="0"/>
              </a:rPr>
              <a:t>Agomuo</a:t>
            </a:r>
            <a:r>
              <a:rPr lang="en-IN" dirty="0">
                <a:latin typeface="Times New Roman" panose="02020603050405020304" pitchFamily="18" charset="0"/>
                <a:cs typeface="Times New Roman" panose="02020603050405020304" pitchFamily="18" charset="0"/>
              </a:rPr>
              <a:t> Ijeoma </a:t>
            </a:r>
            <a:r>
              <a:rPr lang="en-IN" dirty="0" err="1">
                <a:latin typeface="Times New Roman" panose="02020603050405020304" pitchFamily="18" charset="0"/>
                <a:cs typeface="Times New Roman" panose="02020603050405020304" pitchFamily="18" charset="0"/>
              </a:rPr>
              <a:t>Otuomasirichi</a:t>
            </a:r>
            <a:r>
              <a:rPr lang="en-IN" dirty="0">
                <a:latin typeface="Times New Roman" panose="02020603050405020304" pitchFamily="18" charset="0"/>
                <a:cs typeface="Times New Roman" panose="02020603050405020304" pitchFamily="18" charset="0"/>
              </a:rPr>
              <a:t>, Junaid Hussain </a:t>
            </a:r>
            <a:r>
              <a:rPr lang="en-IN" dirty="0" err="1">
                <a:latin typeface="Times New Roman" panose="02020603050405020304" pitchFamily="18" charset="0"/>
                <a:cs typeface="Times New Roman" panose="02020603050405020304" pitchFamily="18" charset="0"/>
              </a:rPr>
              <a:t>Muzamal</a:t>
            </a:r>
            <a:r>
              <a:rPr lang="en-IN" dirty="0">
                <a:latin typeface="Times New Roman" panose="02020603050405020304" pitchFamily="18" charset="0"/>
                <a:cs typeface="Times New Roman" panose="02020603050405020304" pitchFamily="18" charset="0"/>
              </a:rPr>
              <a:t>, “Transparent AI for Adaptive Fraud Detection”, Proceedings of the 19th International Conference on Ubiquitous Information Management and Communication (IMCOM), 2025.</a:t>
            </a:r>
          </a:p>
          <a:p>
            <a:pPr marL="342900" indent="-342900" algn="just">
              <a:lnSpc>
                <a:spcPct val="150000"/>
              </a:lnSpc>
              <a:buFont typeface="+mj-lt"/>
              <a:buAutoNum type="arabicPeriod" startAt="6"/>
            </a:pP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startAt="6"/>
            </a:pPr>
            <a:endParaRPr lang="en-IN" dirty="0"/>
          </a:p>
        </p:txBody>
      </p:sp>
      <p:sp>
        <p:nvSpPr>
          <p:cNvPr id="9" name="Slide Number Placeholder 8">
            <a:extLst>
              <a:ext uri="{FF2B5EF4-FFF2-40B4-BE49-F238E27FC236}">
                <a16:creationId xmlns:a16="http://schemas.microsoft.com/office/drawing/2014/main" id="{97E80D64-11DF-7EF4-AE35-4F90625F1EF2}"/>
              </a:ext>
            </a:extLst>
          </p:cNvPr>
          <p:cNvSpPr>
            <a:spLocks noGrp="1"/>
          </p:cNvSpPr>
          <p:nvPr>
            <p:ph type="sldNum" sz="quarter" idx="7"/>
          </p:nvPr>
        </p:nvSpPr>
        <p:spPr>
          <a:xfrm>
            <a:off x="9118759" y="6542522"/>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14</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1" name="Footer Placeholder 11">
            <a:extLst>
              <a:ext uri="{FF2B5EF4-FFF2-40B4-BE49-F238E27FC236}">
                <a16:creationId xmlns:a16="http://schemas.microsoft.com/office/drawing/2014/main" id="{B09F73E8-D2CF-29E2-6780-349180D4C9EC}"/>
              </a:ext>
            </a:extLst>
          </p:cNvPr>
          <p:cNvSpPr>
            <a:spLocks noGrp="1"/>
          </p:cNvSpPr>
          <p:nvPr>
            <p:ph type="ftr" sz="quarter" idx="5"/>
          </p:nvPr>
        </p:nvSpPr>
        <p:spPr>
          <a:xfrm>
            <a:off x="78738" y="6547528"/>
            <a:ext cx="1978661" cy="269304"/>
          </a:xfrm>
        </p:spPr>
        <p:txBody>
          <a:bodyPr/>
          <a:lstStyle/>
          <a:p>
            <a:pPr marL="12700">
              <a:lnSpc>
                <a:spcPts val="2135"/>
              </a:lnSpc>
            </a:pPr>
            <a:r>
              <a:rPr lang="en-IN" b="1" spc="65" dirty="0">
                <a:solidFill>
                  <a:schemeClr val="bg1"/>
                </a:solidFill>
                <a:latin typeface="Times New Roman" panose="02020603050405020304" pitchFamily="18" charset="0"/>
                <a:cs typeface="Times New Roman" panose="02020603050405020304" pitchFamily="18" charset="0"/>
              </a:rPr>
              <a:t>D</a:t>
            </a:r>
            <a:r>
              <a:rPr lang="en-IN" b="1" spc="95" dirty="0">
                <a:solidFill>
                  <a:schemeClr val="bg1"/>
                </a:solidFill>
                <a:latin typeface="Times New Roman" panose="02020603050405020304" pitchFamily="18" charset="0"/>
                <a:cs typeface="Times New Roman" panose="02020603050405020304" pitchFamily="18" charset="0"/>
              </a:rPr>
              <a:t>e</a:t>
            </a:r>
            <a:r>
              <a:rPr lang="en-IN" b="1" spc="-165" dirty="0">
                <a:solidFill>
                  <a:schemeClr val="bg1"/>
                </a:solidFill>
                <a:latin typeface="Times New Roman" panose="02020603050405020304" pitchFamily="18" charset="0"/>
                <a:cs typeface="Times New Roman" panose="02020603050405020304" pitchFamily="18" charset="0"/>
              </a:rPr>
              <a:t>pt.</a:t>
            </a:r>
            <a:r>
              <a:rPr lang="en-IN" b="1" spc="-265"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o</a:t>
            </a:r>
            <a:r>
              <a:rPr lang="en-IN" b="1" spc="-215" dirty="0">
                <a:solidFill>
                  <a:schemeClr val="bg1"/>
                </a:solidFill>
                <a:latin typeface="Times New Roman" panose="02020603050405020304" pitchFamily="18" charset="0"/>
                <a:cs typeface="Times New Roman" panose="02020603050405020304" pitchFamily="18" charset="0"/>
              </a:rPr>
              <a:t>f</a:t>
            </a:r>
            <a:r>
              <a:rPr lang="en-IN" b="1" spc="-20" dirty="0">
                <a:solidFill>
                  <a:schemeClr val="bg1"/>
                </a:solidFill>
                <a:latin typeface="Times New Roman" panose="02020603050405020304" pitchFamily="18" charset="0"/>
                <a:cs typeface="Times New Roman" panose="02020603050405020304" pitchFamily="18" charset="0"/>
              </a:rPr>
              <a:t>  </a:t>
            </a:r>
            <a:r>
              <a:rPr lang="en-IN" b="1" spc="-45" dirty="0">
                <a:solidFill>
                  <a:schemeClr val="bg1"/>
                </a:solidFill>
                <a:latin typeface="Times New Roman" panose="02020603050405020304" pitchFamily="18" charset="0"/>
                <a:cs typeface="Times New Roman" panose="02020603050405020304" pitchFamily="18" charset="0"/>
              </a:rPr>
              <a:t>CSE,</a:t>
            </a:r>
            <a:r>
              <a:rPr lang="en-IN" b="1" spc="-190" dirty="0">
                <a:solidFill>
                  <a:schemeClr val="bg1"/>
                </a:solidFill>
                <a:latin typeface="Times New Roman" panose="02020603050405020304" pitchFamily="18" charset="0"/>
                <a:cs typeface="Times New Roman" panose="02020603050405020304" pitchFamily="18" charset="0"/>
              </a:rPr>
              <a:t> </a:t>
            </a:r>
            <a:r>
              <a:rPr lang="en-IN" b="1" spc="-5" dirty="0">
                <a:solidFill>
                  <a:schemeClr val="bg1"/>
                </a:solidFill>
                <a:latin typeface="Times New Roman" panose="02020603050405020304" pitchFamily="18" charset="0"/>
                <a:cs typeface="Times New Roman" panose="02020603050405020304" pitchFamily="18" charset="0"/>
              </a:rPr>
              <a:t>S</a:t>
            </a:r>
            <a:r>
              <a:rPr lang="en-IN" b="1" spc="30" dirty="0">
                <a:solidFill>
                  <a:schemeClr val="bg1"/>
                </a:solidFill>
                <a:latin typeface="Times New Roman" panose="02020603050405020304" pitchFamily="18" charset="0"/>
                <a:cs typeface="Times New Roman" panose="02020603050405020304" pitchFamily="18" charset="0"/>
              </a:rPr>
              <a:t>V</a:t>
            </a:r>
            <a:r>
              <a:rPr lang="en-IN" b="1" spc="-5" dirty="0">
                <a:solidFill>
                  <a:schemeClr val="bg1"/>
                </a:solidFill>
                <a:latin typeface="Times New Roman" panose="02020603050405020304" pitchFamily="18" charset="0"/>
                <a:cs typeface="Times New Roman" panose="02020603050405020304" pitchFamily="18" charset="0"/>
              </a:rPr>
              <a:t>IT</a:t>
            </a:r>
          </a:p>
        </p:txBody>
      </p:sp>
    </p:spTree>
    <p:extLst>
      <p:ext uri="{BB962C8B-B14F-4D97-AF65-F5344CB8AC3E}">
        <p14:creationId xmlns:p14="http://schemas.microsoft.com/office/powerpoint/2010/main" val="3186974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3200"/>
            <a:ext cx="10061575" cy="1231106"/>
          </a:xfrm>
        </p:spPr>
        <p:txBody>
          <a:bodyPr/>
          <a:lstStyle/>
          <a:p>
            <a:pPr algn="ctr"/>
            <a:r>
              <a:rPr lang="en-US" sz="8000" dirty="0"/>
              <a:t>Thank You</a:t>
            </a:r>
          </a:p>
        </p:txBody>
      </p:sp>
      <p:sp>
        <p:nvSpPr>
          <p:cNvPr id="5" name="Slide Number Placeholder 4">
            <a:extLst>
              <a:ext uri="{FF2B5EF4-FFF2-40B4-BE49-F238E27FC236}">
                <a16:creationId xmlns:a16="http://schemas.microsoft.com/office/drawing/2014/main" id="{B5571201-3346-A784-0906-281C63939200}"/>
              </a:ext>
            </a:extLst>
          </p:cNvPr>
          <p:cNvSpPr>
            <a:spLocks noGrp="1"/>
          </p:cNvSpPr>
          <p:nvPr>
            <p:ph type="sldNum" sz="quarter" idx="7"/>
          </p:nvPr>
        </p:nvSpPr>
        <p:spPr>
          <a:xfrm>
            <a:off x="8778240" y="6377940"/>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15</a:t>
            </a:fld>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465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413</TotalTime>
  <Words>1444</Words>
  <Application>Microsoft Office PowerPoint</Application>
  <PresentationFormat>Widescreen</PresentationFormat>
  <Paragraphs>120</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MT</vt:lpstr>
      <vt:lpstr>Calibri</vt:lpstr>
      <vt:lpstr>Times New Roman</vt:lpstr>
      <vt:lpstr>Trebuchet MS</vt:lpstr>
      <vt:lpstr>Office Theme</vt:lpstr>
      <vt:lpstr>SAI VIDYA INSTITUTE OF TECHNOLOGY RAJANUKUNTE, BENGALURU - 560064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SAI VIDYA INSTITUTE OF TECHNOLOGY RAJANUKUNTE, BENGALURU - 560064</dc:title>
  <dc:creator>Avinash</dc:creator>
  <cp:lastModifiedBy>Manoj L Bhat</cp:lastModifiedBy>
  <cp:revision>43</cp:revision>
  <dcterms:created xsi:type="dcterms:W3CDTF">2024-04-22T12:07:28Z</dcterms:created>
  <dcterms:modified xsi:type="dcterms:W3CDTF">2025-09-03T17:45:02Z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2024-04-12T00:00:00Z</vt:filetime>
  </property>
  <property fmtid="{D5CDD505-2E9C-101B-9397-08002B2CF9AE}" pid="3" name="LastSaved">
    <vt:filetime>2024-04-22T00:00:00Z</vt:filetime>
  </property>
</Properties>
</file>